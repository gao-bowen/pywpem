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7" r:id="rId2"/>
    <p:sldId id="685" r:id="rId3"/>
    <p:sldId id="686" r:id="rId4"/>
    <p:sldId id="687" r:id="rId5"/>
    <p:sldId id="688" r:id="rId6"/>
    <p:sldId id="689" r:id="rId7"/>
    <p:sldId id="690" r:id="rId8"/>
    <p:sldId id="691" r:id="rId9"/>
  </p:sldIdLst>
  <p:sldSz cx="12192000" cy="6858000"/>
  <p:notesSz cx="9942513" cy="676116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Calibri" panose="020F0502020204030204" pitchFamily="34" charset="0"/>
        <a:ea typeface="宋体" panose="02010600030101010101" pitchFamily="2" charset="-122"/>
        <a:cs typeface="+mn-cs"/>
        <a:sym typeface="Calibri" panose="020F050202020403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Calibri" panose="020F0502020204030204" pitchFamily="34" charset="0"/>
        <a:ea typeface="宋体" panose="02010600030101010101" pitchFamily="2" charset="-122"/>
        <a:cs typeface="+mn-cs"/>
        <a:sym typeface="Calibri" panose="020F0502020204030204" pitchFamily="34" charset="0"/>
      </a:defRPr>
    </a:lvl2pPr>
    <a:lvl3pPr marL="911225" indent="3175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Calibri" panose="020F0502020204030204" pitchFamily="34" charset="0"/>
        <a:ea typeface="宋体" panose="02010600030101010101" pitchFamily="2" charset="-122"/>
        <a:cs typeface="+mn-cs"/>
        <a:sym typeface="Calibri" panose="020F0502020204030204" pitchFamily="34" charset="0"/>
      </a:defRPr>
    </a:lvl3pPr>
    <a:lvl4pPr marL="1368425" indent="3175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Calibri" panose="020F0502020204030204" pitchFamily="34" charset="0"/>
        <a:ea typeface="宋体" panose="02010600030101010101" pitchFamily="2" charset="-122"/>
        <a:cs typeface="+mn-cs"/>
        <a:sym typeface="Calibri" panose="020F0502020204030204" pitchFamily="34" charset="0"/>
      </a:defRPr>
    </a:lvl4pPr>
    <a:lvl5pPr marL="1825625" indent="3175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Calibri" panose="020F0502020204030204" pitchFamily="34" charset="0"/>
        <a:ea typeface="宋体" panose="02010600030101010101" pitchFamily="2" charset="-122"/>
        <a:cs typeface="+mn-cs"/>
        <a:sym typeface="Calibri" panose="020F0502020204030204" pitchFamily="34" charset="0"/>
      </a:defRPr>
    </a:lvl5pPr>
    <a:lvl6pPr marL="2286000" algn="l" defTabSz="914400" rtl="0" eaLnBrk="1" latinLnBrk="0" hangingPunct="1">
      <a:defRPr kern="1200">
        <a:solidFill>
          <a:srgbClr val="000000"/>
        </a:solidFill>
        <a:latin typeface="Calibri" panose="020F0502020204030204" pitchFamily="34" charset="0"/>
        <a:ea typeface="宋体" panose="02010600030101010101" pitchFamily="2" charset="-122"/>
        <a:cs typeface="+mn-cs"/>
        <a:sym typeface="Calibri" panose="020F0502020204030204" pitchFamily="34" charset="0"/>
      </a:defRPr>
    </a:lvl6pPr>
    <a:lvl7pPr marL="2743200" algn="l" defTabSz="914400" rtl="0" eaLnBrk="1" latinLnBrk="0" hangingPunct="1">
      <a:defRPr kern="1200">
        <a:solidFill>
          <a:srgbClr val="000000"/>
        </a:solidFill>
        <a:latin typeface="Calibri" panose="020F0502020204030204" pitchFamily="34" charset="0"/>
        <a:ea typeface="宋体" panose="02010600030101010101" pitchFamily="2" charset="-122"/>
        <a:cs typeface="+mn-cs"/>
        <a:sym typeface="Calibri" panose="020F0502020204030204" pitchFamily="34" charset="0"/>
      </a:defRPr>
    </a:lvl7pPr>
    <a:lvl8pPr marL="3200400" algn="l" defTabSz="914400" rtl="0" eaLnBrk="1" latinLnBrk="0" hangingPunct="1">
      <a:defRPr kern="1200">
        <a:solidFill>
          <a:srgbClr val="000000"/>
        </a:solidFill>
        <a:latin typeface="Calibri" panose="020F0502020204030204" pitchFamily="34" charset="0"/>
        <a:ea typeface="宋体" panose="02010600030101010101" pitchFamily="2" charset="-122"/>
        <a:cs typeface="+mn-cs"/>
        <a:sym typeface="Calibri" panose="020F0502020204030204" pitchFamily="34" charset="0"/>
      </a:defRPr>
    </a:lvl8pPr>
    <a:lvl9pPr marL="3657600" algn="l" defTabSz="914400" rtl="0" eaLnBrk="1" latinLnBrk="0" hangingPunct="1">
      <a:defRPr kern="1200">
        <a:solidFill>
          <a:srgbClr val="000000"/>
        </a:solidFill>
        <a:latin typeface="Calibri" panose="020F0502020204030204" pitchFamily="34" charset="0"/>
        <a:ea typeface="宋体" panose="02010600030101010101" pitchFamily="2" charset="-122"/>
        <a:cs typeface="+mn-cs"/>
        <a:sym typeface="Calibri" panose="020F050202020403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94">
          <p15:clr>
            <a:srgbClr val="A4A3A4"/>
          </p15:clr>
        </p15:guide>
        <p15:guide id="2" pos="73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06DBE"/>
    <a:srgbClr val="FF0000"/>
    <a:srgbClr val="0000FF"/>
    <a:srgbClr val="00447C"/>
    <a:srgbClr val="D18E03"/>
    <a:srgbClr val="008000"/>
    <a:srgbClr val="FF00FF"/>
    <a:srgbClr val="CEEAB0"/>
    <a:srgbClr val="47872C"/>
    <a:srgbClr val="E7E9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7" autoAdjust="0"/>
    <p:restoredTop sz="96327" autoAdjust="0"/>
  </p:normalViewPr>
  <p:slideViewPr>
    <p:cSldViewPr snapToGrid="0">
      <p:cViewPr varScale="1">
        <p:scale>
          <a:sx n="108" d="100"/>
          <a:sy n="108" d="100"/>
        </p:scale>
        <p:origin x="424" y="184"/>
      </p:cViewPr>
      <p:guideLst>
        <p:guide orient="horz" pos="2294"/>
        <p:guide pos="733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022" name="Rectangle 375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4309907" cy="3379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1050023" name="Rectangle 376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1017" y="1"/>
            <a:ext cx="4309907" cy="3379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fld id="{D5D588D6-B38E-47E1-9FB9-B2D5E5E12168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1050024" name="Rectangle 377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21685"/>
            <a:ext cx="4309907" cy="3379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1050025" name="Rectangle 378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1017" y="6421685"/>
            <a:ext cx="4309907" cy="3379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/>
            </a:lvl1pPr>
          </a:lstStyle>
          <a:p>
            <a:fld id="{25B2AE83-4122-4AD4-8BEA-4B303EDD3BA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46654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016" name="Rectangle 369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9907" cy="3394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050017" name="Rectangle 370"/>
          <p:cNvSpPr>
            <a:spLocks noGrp="1" noChangeArrowheads="1"/>
          </p:cNvSpPr>
          <p:nvPr>
            <p:ph type="dt" idx="1"/>
          </p:nvPr>
        </p:nvSpPr>
        <p:spPr bwMode="auto">
          <a:xfrm>
            <a:off x="5631017" y="0"/>
            <a:ext cx="4309907" cy="3394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fld id="{9DEF6F98-2180-4A80-8521-84A55AA50711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1050018" name="Rectangle 371"/>
          <p:cNvSpPr>
            <a:spLocks noGrp="1" noRot="1" noChangeAspect="1"/>
          </p:cNvSpPr>
          <p:nvPr>
            <p:ph type="sldImg" idx="4294967295"/>
          </p:nvPr>
        </p:nvSpPr>
        <p:spPr bwMode="auto">
          <a:xfrm>
            <a:off x="2943225" y="844550"/>
            <a:ext cx="4056063" cy="228123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</p:spPr>
      </p:sp>
      <p:sp>
        <p:nvSpPr>
          <p:cNvPr id="1050019" name="Rectangle 372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993616" y="3254265"/>
            <a:ext cx="7955282" cy="266214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>
                <a:sym typeface="Calibri" panose="020F0502020204030204" pitchFamily="34" charset="0"/>
              </a:rPr>
              <a:t>单击此处编辑母版文本样式</a:t>
            </a:r>
            <a:endParaRPr lang="en-US" altLang="en-US" noProof="0">
              <a:sym typeface="Calibri" panose="020F0502020204030204" pitchFamily="34" charset="0"/>
            </a:endParaRPr>
          </a:p>
          <a:p>
            <a:pPr lvl="1"/>
            <a:r>
              <a:rPr lang="zh-CN" altLang="en-US" noProof="0">
                <a:sym typeface="Calibri" panose="020F0502020204030204" pitchFamily="34" charset="0"/>
              </a:rPr>
              <a:t>第二级</a:t>
            </a:r>
            <a:endParaRPr lang="en-US" altLang="en-US" noProof="0">
              <a:sym typeface="Calibri" panose="020F0502020204030204" pitchFamily="34" charset="0"/>
            </a:endParaRPr>
          </a:p>
          <a:p>
            <a:pPr lvl="2"/>
            <a:r>
              <a:rPr lang="zh-CN" altLang="en-US" noProof="0">
                <a:sym typeface="Calibri" panose="020F0502020204030204" pitchFamily="34" charset="0"/>
              </a:rPr>
              <a:t>第三级</a:t>
            </a:r>
            <a:endParaRPr lang="en-US" altLang="en-US" noProof="0">
              <a:sym typeface="Calibri" panose="020F0502020204030204" pitchFamily="34" charset="0"/>
            </a:endParaRPr>
          </a:p>
          <a:p>
            <a:pPr lvl="3"/>
            <a:r>
              <a:rPr lang="zh-CN" altLang="en-US" noProof="0">
                <a:sym typeface="Calibri" panose="020F0502020204030204" pitchFamily="34" charset="0"/>
              </a:rPr>
              <a:t>第四级</a:t>
            </a:r>
            <a:endParaRPr lang="en-US" altLang="en-US" noProof="0">
              <a:sym typeface="Calibri" panose="020F0502020204030204" pitchFamily="34" charset="0"/>
            </a:endParaRPr>
          </a:p>
          <a:p>
            <a:pPr lvl="4"/>
            <a:r>
              <a:rPr lang="zh-CN" altLang="en-US" noProof="0">
                <a:sym typeface="Calibri" panose="020F0502020204030204" pitchFamily="34" charset="0"/>
              </a:rPr>
              <a:t>第五级</a:t>
            </a:r>
            <a:endParaRPr lang="en-US" altLang="en-US" noProof="0">
              <a:sym typeface="Calibri" panose="020F0502020204030204" pitchFamily="34" charset="0"/>
            </a:endParaRPr>
          </a:p>
        </p:txBody>
      </p:sp>
      <p:sp>
        <p:nvSpPr>
          <p:cNvPr id="1050020" name="Rectangle 373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21684"/>
            <a:ext cx="4309907" cy="3394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050021" name="Rectangle 374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1017" y="6421684"/>
            <a:ext cx="4309907" cy="3394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>
                <a:ea typeface="微软雅黑" panose="020B0503020204020204" pitchFamily="34" charset="-122"/>
              </a:defRPr>
            </a:lvl1pPr>
          </a:lstStyle>
          <a:p>
            <a:fld id="{4F76F37F-AC5B-4388-B82E-0D05141DD76C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42886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rgbClr val="000000"/>
        </a:solidFill>
        <a:latin typeface="Calibri" panose="020F0502020204030204" pitchFamily="34" charset="0"/>
        <a:ea typeface="宋体" panose="02010600030101010101" pitchFamily="2" charset="-122"/>
        <a:cs typeface="+mn-cs"/>
        <a:sym typeface="Calibri" panose="020F050202020403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rgbClr val="000000"/>
        </a:solidFill>
        <a:latin typeface="Calibri" panose="020F0502020204030204" pitchFamily="34" charset="0"/>
        <a:ea typeface="宋体" panose="02010600030101010101" pitchFamily="2" charset="-122"/>
        <a:cs typeface="+mn-cs"/>
        <a:sym typeface="Calibri" panose="020F0502020204030204" pitchFamily="34" charset="0"/>
      </a:defRPr>
    </a:lvl2pPr>
    <a:lvl3pPr marL="911225" algn="l" rtl="0" eaLnBrk="0" fontAlgn="base" hangingPunct="0">
      <a:spcBef>
        <a:spcPct val="0"/>
      </a:spcBef>
      <a:spcAft>
        <a:spcPct val="0"/>
      </a:spcAft>
      <a:defRPr sz="1200" kern="1200">
        <a:solidFill>
          <a:srgbClr val="000000"/>
        </a:solidFill>
        <a:latin typeface="Calibri" panose="020F0502020204030204" pitchFamily="34" charset="0"/>
        <a:ea typeface="宋体" panose="02010600030101010101" pitchFamily="2" charset="-122"/>
        <a:cs typeface="+mn-cs"/>
        <a:sym typeface="Calibri" panose="020F0502020204030204" pitchFamily="34" charset="0"/>
      </a:defRPr>
    </a:lvl3pPr>
    <a:lvl4pPr marL="1368425" algn="l" rtl="0" eaLnBrk="0" fontAlgn="base" hangingPunct="0">
      <a:spcBef>
        <a:spcPct val="0"/>
      </a:spcBef>
      <a:spcAft>
        <a:spcPct val="0"/>
      </a:spcAft>
      <a:defRPr sz="1200" kern="1200">
        <a:solidFill>
          <a:srgbClr val="000000"/>
        </a:solidFill>
        <a:latin typeface="Calibri" panose="020F0502020204030204" pitchFamily="34" charset="0"/>
        <a:ea typeface="宋体" panose="02010600030101010101" pitchFamily="2" charset="-122"/>
        <a:cs typeface="+mn-cs"/>
        <a:sym typeface="Calibri" panose="020F0502020204030204" pitchFamily="34" charset="0"/>
      </a:defRPr>
    </a:lvl4pPr>
    <a:lvl5pPr marL="1825625" algn="l" rtl="0" eaLnBrk="0" fontAlgn="base" hangingPunct="0">
      <a:spcBef>
        <a:spcPct val="0"/>
      </a:spcBef>
      <a:spcAft>
        <a:spcPct val="0"/>
      </a:spcAft>
      <a:defRPr sz="1200" kern="1200">
        <a:solidFill>
          <a:srgbClr val="000000"/>
        </a:solidFill>
        <a:latin typeface="Calibri" panose="020F0502020204030204" pitchFamily="34" charset="0"/>
        <a:ea typeface="宋体" panose="02010600030101010101" pitchFamily="2" charset="-122"/>
        <a:cs typeface="+mn-cs"/>
        <a:sym typeface="Calibri" panose="020F050202020403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21321-C426-47EA-B7EB-3834CC67774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DEF6F98-2180-4A80-8521-84A55AA50711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76F37F-AC5B-4388-B82E-0D05141DD76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1113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DEF6F98-2180-4A80-8521-84A55AA50711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76F37F-AC5B-4388-B82E-0D05141DD76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308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DEF6F98-2180-4A80-8521-84A55AA50711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76F37F-AC5B-4388-B82E-0D05141DD76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5823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DEF6F98-2180-4A80-8521-84A55AA50711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76F37F-AC5B-4388-B82E-0D05141DD76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9313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DEF6F98-2180-4A80-8521-84A55AA50711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76F37F-AC5B-4388-B82E-0D05141DD76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06279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DEF6F98-2180-4A80-8521-84A55AA50711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76F37F-AC5B-4388-B82E-0D05141DD76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90783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DEF6F98-2180-4A80-8521-84A55AA50711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76F37F-AC5B-4388-B82E-0D05141DD76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2629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69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9770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049771" name="Rectangle 109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fld id="{43ADC22A-E89E-4CA4-A9DA-F00837335342}" type="datetime1">
              <a:rPr lang="zh-CN" altLang="en-US" smtClean="0"/>
              <a:t>2026/6/10</a:t>
            </a:fld>
            <a:endParaRPr lang="zh-CN" altLang="en-US" b="1" i="1"/>
          </a:p>
        </p:txBody>
      </p:sp>
      <p:sp>
        <p:nvSpPr>
          <p:cNvPr id="1049772" name="Rectangle 109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9773" name="Rectangle 109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30055C4C-D7A3-431C-BDD5-E6EB3A7AC7E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596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597" name="Rectangle 109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fld id="{07108355-6E83-4B14-AA43-7CEB1E503A45}" type="datetime1">
              <a:rPr lang="zh-CN" altLang="en-US" smtClean="0"/>
              <a:t>2026/6/10</a:t>
            </a:fld>
            <a:endParaRPr lang="zh-CN" altLang="en-US" b="1" i="1"/>
          </a:p>
        </p:txBody>
      </p:sp>
      <p:sp>
        <p:nvSpPr>
          <p:cNvPr id="1048598" name="Rectangle 109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Rectangle 109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78384" y="6415088"/>
            <a:ext cx="1311275" cy="365125"/>
          </a:xfrm>
        </p:spPr>
        <p:txBody>
          <a:bodyPr/>
          <a:lstStyle>
            <a:lvl1pPr>
              <a:defRPr sz="1400" b="0"/>
            </a:lvl1pPr>
          </a:lstStyle>
          <a:p>
            <a:fld id="{89DB14B3-731A-4352-BC82-B1993596BD11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80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9781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9782" name="Rectangle 109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fld id="{F680BDC2-098E-408A-97A7-2C188B209A9D}" type="datetime1">
              <a:rPr lang="zh-CN" altLang="en-US" smtClean="0"/>
              <a:t>2026/6/10</a:t>
            </a:fld>
            <a:endParaRPr lang="zh-CN" altLang="en-US" b="1" i="1"/>
          </a:p>
        </p:txBody>
      </p:sp>
      <p:sp>
        <p:nvSpPr>
          <p:cNvPr id="1049783" name="Rectangle 109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9784" name="Rectangle 109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BF1226E9-A8D7-433D-8FF6-126998C986E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9751" name="内容占位符 2"/>
          <p:cNvSpPr>
            <a:spLocks noGrp="1"/>
          </p:cNvSpPr>
          <p:nvPr>
            <p:ph sz="half" idx="1"/>
          </p:nvPr>
        </p:nvSpPr>
        <p:spPr>
          <a:xfrm>
            <a:off x="639763" y="1222375"/>
            <a:ext cx="5392737" cy="4775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9752" name="内容占位符 3"/>
          <p:cNvSpPr>
            <a:spLocks noGrp="1"/>
          </p:cNvSpPr>
          <p:nvPr>
            <p:ph sz="half" idx="2"/>
          </p:nvPr>
        </p:nvSpPr>
        <p:spPr>
          <a:xfrm>
            <a:off x="6184900" y="1222375"/>
            <a:ext cx="5394325" cy="4775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9753" name="Rectangle 109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fld id="{FF2AB2A5-7A8A-4F58-A554-B42D7FCF923B}" type="datetime1">
              <a:rPr lang="zh-CN" altLang="en-US" smtClean="0"/>
              <a:t>2026/6/10</a:t>
            </a:fld>
            <a:endParaRPr lang="zh-CN" altLang="en-US" b="1" i="1"/>
          </a:p>
        </p:txBody>
      </p:sp>
      <p:sp>
        <p:nvSpPr>
          <p:cNvPr id="1049754" name="Rectangle 109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9755" name="Rectangle 109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B52D239C-B544-419A-AA47-2182D1DC8F2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56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9757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9758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975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9760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9761" name="Rectangle 109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fld id="{71AF49A0-AE70-4051-914F-31E7490B50B4}" type="datetime1">
              <a:rPr lang="zh-CN" altLang="en-US" smtClean="0"/>
              <a:t>2026/6/10</a:t>
            </a:fld>
            <a:endParaRPr lang="zh-CN" altLang="en-US" b="1" i="1"/>
          </a:p>
        </p:txBody>
      </p:sp>
      <p:sp>
        <p:nvSpPr>
          <p:cNvPr id="1049762" name="Rectangle 109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9763" name="Rectangle 109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0C864EAE-E214-426E-A852-45DAD4CB139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07" name="Rectangle 109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fld id="{B6313E23-202A-4DBA-BDFA-113B037C340A}" type="datetime1">
              <a:rPr lang="zh-CN" altLang="en-US" smtClean="0"/>
              <a:t>2026/6/10</a:t>
            </a:fld>
            <a:endParaRPr lang="zh-CN" altLang="en-US" b="1" i="1"/>
          </a:p>
        </p:txBody>
      </p:sp>
      <p:sp>
        <p:nvSpPr>
          <p:cNvPr id="1048608" name="Rectangle 109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09" name="Rectangle 109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78384" y="6415088"/>
            <a:ext cx="1311275" cy="365125"/>
          </a:xfrm>
        </p:spPr>
        <p:txBody>
          <a:bodyPr/>
          <a:lstStyle>
            <a:lvl1pPr>
              <a:defRPr sz="1400" b="0"/>
            </a:lvl1pPr>
          </a:lstStyle>
          <a:p>
            <a:fld id="{89DB14B3-731A-4352-BC82-B1993596BD11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Rectangle 109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fld id="{1A593734-0361-4874-BEC2-546E7AA82CC1}" type="datetime1">
              <a:rPr lang="zh-CN" altLang="en-US" smtClean="0"/>
              <a:t>2026/6/10</a:t>
            </a:fld>
            <a:endParaRPr lang="zh-CN" altLang="en-US" b="1" i="1"/>
          </a:p>
        </p:txBody>
      </p:sp>
      <p:sp>
        <p:nvSpPr>
          <p:cNvPr id="1048584" name="Rectangle 109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Rectangle 109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78384" y="6415088"/>
            <a:ext cx="1311275" cy="365125"/>
          </a:xfrm>
        </p:spPr>
        <p:txBody>
          <a:bodyPr/>
          <a:lstStyle>
            <a:lvl1pPr>
              <a:defRPr sz="1400" b="0"/>
            </a:lvl1pPr>
          </a:lstStyle>
          <a:p>
            <a:fld id="{89DB14B3-731A-4352-BC82-B1993596BD11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90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9791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9792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9793" name="Rectangle 109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fld id="{99330C1F-F5BC-42E0-AA5F-D5B9A26A9E8D}" type="datetime1">
              <a:rPr lang="zh-CN" altLang="en-US" smtClean="0"/>
              <a:t>2026/6/10</a:t>
            </a:fld>
            <a:endParaRPr lang="zh-CN" altLang="en-US" b="1" i="1"/>
          </a:p>
        </p:txBody>
      </p:sp>
      <p:sp>
        <p:nvSpPr>
          <p:cNvPr id="1049794" name="Rectangle 109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9795" name="Rectangle 109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6F4ACBDE-81A0-4AFC-ADBB-F83DDB0974C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74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9775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1049776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9777" name="Rectangle 109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fld id="{EB279A69-F49C-4E84-B5F0-51A87B0ECECB}" type="datetime1">
              <a:rPr lang="zh-CN" altLang="en-US" smtClean="0"/>
              <a:t>2026/6/10</a:t>
            </a:fld>
            <a:endParaRPr lang="zh-CN" altLang="en-US" b="1" i="1"/>
          </a:p>
        </p:txBody>
      </p:sp>
      <p:sp>
        <p:nvSpPr>
          <p:cNvPr id="1049778" name="Rectangle 109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9779" name="Rectangle 109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FC5CC31D-1363-49C8-9F24-77AAE0A8B09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8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9786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9787" name="Rectangle 109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fld id="{D4ACED31-FBD9-4AF6-B0F4-54C40CE7C31F}" type="datetime1">
              <a:rPr lang="zh-CN" altLang="en-US" smtClean="0"/>
              <a:t>2026/6/10</a:t>
            </a:fld>
            <a:endParaRPr lang="zh-CN" altLang="en-US" b="1" i="1"/>
          </a:p>
        </p:txBody>
      </p:sp>
      <p:sp>
        <p:nvSpPr>
          <p:cNvPr id="1049788" name="Rectangle 109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9789" name="Rectangle 109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EC627E0C-9583-4BB6-9343-D17892D0D83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64" name="竖排标题 1"/>
          <p:cNvSpPr>
            <a:spLocks noGrp="1"/>
          </p:cNvSpPr>
          <p:nvPr>
            <p:ph type="title" orient="vert"/>
          </p:nvPr>
        </p:nvSpPr>
        <p:spPr>
          <a:xfrm>
            <a:off x="8845550" y="228600"/>
            <a:ext cx="2733675" cy="5768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976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39763" y="228600"/>
            <a:ext cx="8053387" cy="5768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9766" name="Rectangle 109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fld id="{633320E3-A737-4ADD-BC72-DA6C453EA8AD}" type="datetime1">
              <a:rPr lang="zh-CN" altLang="en-US" smtClean="0"/>
              <a:t>2026/6/10</a:t>
            </a:fld>
            <a:endParaRPr lang="zh-CN" altLang="en-US" b="1" i="1"/>
          </a:p>
        </p:txBody>
      </p:sp>
      <p:sp>
        <p:nvSpPr>
          <p:cNvPr id="1049767" name="Rectangle 109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9768" name="Rectangle 109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548816AE-6FA8-4183-978A-8319EA45629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Rectangle 1093"/>
          <p:cNvSpPr>
            <a:spLocks noChangeArrowheads="1"/>
          </p:cNvSpPr>
          <p:nvPr/>
        </p:nvSpPr>
        <p:spPr bwMode="auto">
          <a:xfrm>
            <a:off x="0" y="6346825"/>
            <a:ext cx="12192000" cy="511175"/>
          </a:xfrm>
          <a:prstGeom prst="rect">
            <a:avLst/>
          </a:prstGeom>
          <a:solidFill>
            <a:srgbClr val="00447C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eaLnBrk="0" hangingPunct="0"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eaLnBrk="0" hangingPunct="0"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eaLnBrk="0" hangingPunct="0"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eaLnBrk="0" hangingPunct="0"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2828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740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197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654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8577" name="Rectangle 1094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60400" y="228600"/>
            <a:ext cx="9380538" cy="7842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48578" name="Rectangle 109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9763" y="1222375"/>
            <a:ext cx="10939462" cy="4775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en-US" altLang="en-US"/>
          </a:p>
          <a:p>
            <a:pPr lvl="1"/>
            <a:r>
              <a:rPr lang="zh-CN" altLang="en-US"/>
              <a:t>第二级</a:t>
            </a:r>
            <a:endParaRPr lang="en-US" altLang="en-US"/>
          </a:p>
          <a:p>
            <a:pPr lvl="2"/>
            <a:r>
              <a:rPr lang="zh-CN" altLang="en-US"/>
              <a:t>第三级</a:t>
            </a:r>
            <a:endParaRPr lang="en-US" altLang="en-US"/>
          </a:p>
          <a:p>
            <a:pPr lvl="3"/>
            <a:r>
              <a:rPr lang="zh-CN" altLang="en-US"/>
              <a:t>第四级</a:t>
            </a:r>
            <a:endParaRPr lang="en-US" altLang="en-US"/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1048579" name="Rectangle 109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sz="600">
                <a:solidFill>
                  <a:srgbClr val="FFFFFF"/>
                </a:solidFill>
                <a:ea typeface="微软雅黑" panose="020B0503020204020204" pitchFamily="34" charset="-122"/>
              </a:defRPr>
            </a:lvl1pPr>
          </a:lstStyle>
          <a:p>
            <a:fld id="{7D4FE00E-8C06-457B-9BDE-A197369E635E}" type="datetime1">
              <a:rPr lang="zh-CN" altLang="en-US" smtClean="0"/>
              <a:t>2026/6/10</a:t>
            </a:fld>
            <a:endParaRPr lang="zh-CN" altLang="en-US" b="1" i="1"/>
          </a:p>
        </p:txBody>
      </p:sp>
      <p:sp>
        <p:nvSpPr>
          <p:cNvPr id="1048580" name="Rectangle 109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defRPr sz="600" b="1" i="1">
                <a:solidFill>
                  <a:srgbClr val="FFFFFF"/>
                </a:solidFill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048581" name="Rectangle 109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44200" y="641508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2400" b="1" i="1" smtClean="0">
                <a:solidFill>
                  <a:srgbClr val="FFFFFF"/>
                </a:solidFill>
                <a:ea typeface="微软雅黑" panose="020B0503020204020204" pitchFamily="34" charset="-122"/>
              </a:defRPr>
            </a:lvl1pPr>
          </a:lstStyle>
          <a:p>
            <a:fld id="{4735416B-1EEB-4908-B3FA-75CB8A360816}" type="slidenum">
              <a:rPr lang="zh-CN" altLang="en-US"/>
              <a:t>‹#›</a:t>
            </a:fld>
            <a:endParaRPr lang="zh-CN" altLang="en-US"/>
          </a:p>
        </p:txBody>
      </p:sp>
      <p:cxnSp>
        <p:nvCxnSpPr>
          <p:cNvPr id="3145728" name="Line 2054"/>
          <p:cNvCxnSpPr>
            <a:cxnSpLocks noChangeShapeType="1"/>
          </p:cNvCxnSpPr>
          <p:nvPr/>
        </p:nvCxnSpPr>
        <p:spPr bwMode="auto">
          <a:xfrm>
            <a:off x="639763" y="1028700"/>
            <a:ext cx="9401175" cy="0"/>
          </a:xfrm>
          <a:prstGeom prst="line">
            <a:avLst/>
          </a:prstGeom>
          <a:noFill/>
          <a:ln w="19050">
            <a:solidFill>
              <a:srgbClr val="0B4DA2"/>
            </a:solidFill>
            <a:round/>
          </a:ln>
        </p:spPr>
      </p:cxnSp>
      <p:pic>
        <p:nvPicPr>
          <p:cNvPr id="2097152" name="Picture 2057"/>
          <p:cNvPicPr>
            <a:picLocks noChangeAspect="1" noChangeArrowheads="1"/>
          </p:cNvPicPr>
          <p:nvPr/>
        </p:nvPicPr>
        <p:blipFill>
          <a:blip r:embed="rId13" cstate="print"/>
          <a:srcRect l="18823" t="8015" r="10895" b="13808"/>
          <a:stretch>
            <a:fillRect/>
          </a:stretch>
        </p:blipFill>
        <p:spPr bwMode="auto">
          <a:xfrm>
            <a:off x="10668000" y="84138"/>
            <a:ext cx="836613" cy="10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2" name="Rectangle 233"/>
          <p:cNvSpPr>
            <a:spLocks noChangeArrowheads="1"/>
          </p:cNvSpPr>
          <p:nvPr userDrawn="1"/>
        </p:nvSpPr>
        <p:spPr bwMode="auto">
          <a:xfrm>
            <a:off x="331788" y="428625"/>
            <a:ext cx="15398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900"/>
              </a:spcBef>
              <a:spcAft>
                <a:spcPts val="150"/>
              </a:spcAft>
              <a:buClr>
                <a:srgbClr val="0B4DA2"/>
              </a:buClr>
              <a:buSzPct val="100000"/>
              <a:buFont typeface="Calibri" panose="020F0502020204030204" pitchFamily="34" charset="0"/>
              <a:buChar char=" "/>
              <a:defRPr sz="32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B4DA2"/>
              </a:buClr>
              <a:buSzPct val="100000"/>
              <a:buFont typeface="Calibri" panose="020F0502020204030204" pitchFamily="34" charset="0"/>
              <a:buChar char="◦"/>
              <a:defRPr sz="13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B4DA2"/>
              </a:buClr>
              <a:buSzPct val="100000"/>
              <a:buFont typeface="Calibri" panose="020F0502020204030204" pitchFamily="34" charset="0"/>
              <a:buChar char="◦"/>
              <a:defRPr sz="1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B4DA2"/>
              </a:buClr>
              <a:buSzPct val="100000"/>
              <a:buFont typeface="Calibri" panose="020F0502020204030204" pitchFamily="34" charset="0"/>
              <a:buChar char="◦"/>
              <a:defRPr sz="1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B4DA2"/>
              </a:buClr>
              <a:buSzPct val="100000"/>
              <a:buFont typeface="Calibri" panose="020F0502020204030204" pitchFamily="34" charset="0"/>
              <a:buChar char="◦"/>
              <a:defRPr sz="1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B4DA2"/>
              </a:buClr>
              <a:buSzPct val="100000"/>
              <a:buFont typeface="Calibri" panose="020F0502020204030204" pitchFamily="34" charset="0"/>
              <a:buChar char="◦"/>
              <a:defRPr sz="1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B4DA2"/>
              </a:buClr>
              <a:buSzPct val="100000"/>
              <a:buFont typeface="Calibri" panose="020F0502020204030204" pitchFamily="34" charset="0"/>
              <a:buChar char="◦"/>
              <a:defRPr sz="1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B4DA2"/>
              </a:buClr>
              <a:buSzPct val="100000"/>
              <a:buFont typeface="Calibri" panose="020F0502020204030204" pitchFamily="34" charset="0"/>
              <a:buChar char="◦"/>
              <a:defRPr sz="1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B4DA2"/>
              </a:buClr>
              <a:buSzPct val="100000"/>
              <a:buFont typeface="Calibri" panose="020F0502020204030204" pitchFamily="34" charset="0"/>
              <a:buChar char="◦"/>
              <a:defRPr sz="1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>
              <a:solidFill>
                <a:srgbClr val="FFFF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3145729" name="Line 404"/>
          <p:cNvCxnSpPr>
            <a:cxnSpLocks noChangeShapeType="1"/>
          </p:cNvCxnSpPr>
          <p:nvPr userDrawn="1"/>
        </p:nvCxnSpPr>
        <p:spPr bwMode="auto">
          <a:xfrm>
            <a:off x="550863" y="428625"/>
            <a:ext cx="0" cy="457200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80808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808080"/>
          </a:solidFill>
          <a:latin typeface="Calibri Light" panose="020F0302020204030204"/>
          <a:ea typeface="宋体" panose="02010600030101010101" pitchFamily="2" charset="-122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808080"/>
          </a:solidFill>
          <a:latin typeface="Calibri Light" panose="020F0302020204030204"/>
          <a:ea typeface="宋体" panose="02010600030101010101" pitchFamily="2" charset="-122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808080"/>
          </a:solidFill>
          <a:latin typeface="Calibri Light" panose="020F0302020204030204"/>
          <a:ea typeface="宋体" panose="02010600030101010101" pitchFamily="2" charset="-122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808080"/>
          </a:solidFill>
          <a:latin typeface="Calibri Light" panose="020F0302020204030204"/>
          <a:ea typeface="宋体" panose="02010600030101010101" pitchFamily="2" charset="-122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808080"/>
          </a:solidFill>
          <a:latin typeface="Calibri Light" panose="020F0302020204030204"/>
          <a:ea typeface="宋体" panose="02010600030101010101" pitchFamily="2" charset="-122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808080"/>
          </a:solidFill>
          <a:latin typeface="Calibri Light" panose="020F0302020204030204"/>
          <a:ea typeface="宋体" panose="02010600030101010101" pitchFamily="2" charset="-122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808080"/>
          </a:solidFill>
          <a:latin typeface="Calibri Light" panose="020F0302020204030204"/>
          <a:ea typeface="宋体" panose="02010600030101010101" pitchFamily="2" charset="-122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808080"/>
          </a:solidFill>
          <a:latin typeface="Calibri Light" panose="020F0302020204030204"/>
          <a:ea typeface="宋体" panose="02010600030101010101" pitchFamily="2" charset="-122"/>
        </a:defRPr>
      </a:lvl9pPr>
    </p:titleStyle>
    <p:bodyStyle>
      <a:lvl1pPr marL="68580" indent="-68580" algn="l" rtl="0" eaLnBrk="0" fontAlgn="base" hangingPunct="0">
        <a:lnSpc>
          <a:spcPct val="90000"/>
        </a:lnSpc>
        <a:spcBef>
          <a:spcPts val="900"/>
        </a:spcBef>
        <a:spcAft>
          <a:spcPts val="150"/>
        </a:spcAft>
        <a:buClr>
          <a:srgbClr val="0B4DA2"/>
        </a:buClr>
        <a:buSzPct val="100000"/>
        <a:buFont typeface="Calibri" panose="020F0502020204030204" pitchFamily="34" charset="0"/>
        <a:buChar char=" "/>
        <a:defRPr sz="3200">
          <a:solidFill>
            <a:srgbClr val="404040"/>
          </a:solidFill>
          <a:latin typeface="+mn-lt"/>
          <a:ea typeface="+mn-ea"/>
          <a:cs typeface="+mn-cs"/>
        </a:defRPr>
      </a:lvl1pPr>
      <a:lvl2pPr marL="288925" indent="-139700" algn="l" rtl="0" eaLnBrk="0" fontAlgn="base" hangingPunct="0">
        <a:lnSpc>
          <a:spcPct val="90000"/>
        </a:lnSpc>
        <a:spcBef>
          <a:spcPts val="150"/>
        </a:spcBef>
        <a:spcAft>
          <a:spcPts val="300"/>
        </a:spcAft>
        <a:buClr>
          <a:srgbClr val="0B4DA2"/>
        </a:buClr>
        <a:buSzPct val="100000"/>
        <a:buFont typeface="Calibri" panose="020F0502020204030204" pitchFamily="34" charset="0"/>
        <a:buChar char="◦"/>
        <a:defRPr sz="1300">
          <a:solidFill>
            <a:srgbClr val="404040"/>
          </a:solidFill>
          <a:latin typeface="+mn-lt"/>
          <a:ea typeface="+mn-ea"/>
        </a:defRPr>
      </a:lvl2pPr>
      <a:lvl3pPr marL="424180" indent="-136525" algn="l" rtl="0" eaLnBrk="0" fontAlgn="base" hangingPunct="0">
        <a:lnSpc>
          <a:spcPct val="90000"/>
        </a:lnSpc>
        <a:spcBef>
          <a:spcPts val="150"/>
        </a:spcBef>
        <a:spcAft>
          <a:spcPts val="300"/>
        </a:spcAft>
        <a:buClr>
          <a:srgbClr val="0B4DA2"/>
        </a:buClr>
        <a:buSzPct val="100000"/>
        <a:buFont typeface="Calibri" panose="020F0502020204030204" pitchFamily="34" charset="0"/>
        <a:buChar char="◦"/>
        <a:defRPr sz="1000">
          <a:solidFill>
            <a:srgbClr val="404040"/>
          </a:solidFill>
          <a:latin typeface="+mn-lt"/>
          <a:ea typeface="+mn-ea"/>
        </a:defRPr>
      </a:lvl3pPr>
      <a:lvl4pPr marL="560705" indent="-136525" algn="l" rtl="0" eaLnBrk="0" fontAlgn="base" hangingPunct="0">
        <a:lnSpc>
          <a:spcPct val="90000"/>
        </a:lnSpc>
        <a:spcBef>
          <a:spcPts val="150"/>
        </a:spcBef>
        <a:spcAft>
          <a:spcPts val="300"/>
        </a:spcAft>
        <a:buClr>
          <a:srgbClr val="0B4DA2"/>
        </a:buClr>
        <a:buSzPct val="100000"/>
        <a:buFont typeface="Calibri" panose="020F0502020204030204" pitchFamily="34" charset="0"/>
        <a:buChar char="◦"/>
        <a:defRPr sz="1000">
          <a:solidFill>
            <a:srgbClr val="404040"/>
          </a:solidFill>
          <a:latin typeface="+mn-lt"/>
          <a:ea typeface="+mn-ea"/>
        </a:defRPr>
      </a:lvl4pPr>
      <a:lvl5pPr marL="698500" indent="-139700" algn="l" rtl="0" eaLnBrk="0" fontAlgn="base" hangingPunct="0">
        <a:lnSpc>
          <a:spcPct val="90000"/>
        </a:lnSpc>
        <a:spcBef>
          <a:spcPts val="150"/>
        </a:spcBef>
        <a:spcAft>
          <a:spcPts val="300"/>
        </a:spcAft>
        <a:buClr>
          <a:srgbClr val="0B4DA2"/>
        </a:buClr>
        <a:buSzPct val="100000"/>
        <a:buFont typeface="Calibri" panose="020F0502020204030204" pitchFamily="34" charset="0"/>
        <a:buChar char="◦"/>
        <a:defRPr sz="1000">
          <a:solidFill>
            <a:srgbClr val="404040"/>
          </a:solidFill>
          <a:latin typeface="+mn-lt"/>
          <a:ea typeface="+mn-ea"/>
        </a:defRPr>
      </a:lvl5pPr>
      <a:lvl6pPr marL="1155700" indent="-139700" algn="l" rtl="0" fontAlgn="base">
        <a:lnSpc>
          <a:spcPct val="90000"/>
        </a:lnSpc>
        <a:spcBef>
          <a:spcPts val="150"/>
        </a:spcBef>
        <a:spcAft>
          <a:spcPts val="300"/>
        </a:spcAft>
        <a:buClr>
          <a:srgbClr val="0B4DA2"/>
        </a:buClr>
        <a:buSzPct val="100000"/>
        <a:buFont typeface="Calibri" panose="020F0502020204030204" pitchFamily="34" charset="0"/>
        <a:buChar char="◦"/>
        <a:defRPr sz="1000">
          <a:solidFill>
            <a:srgbClr val="404040"/>
          </a:solidFill>
          <a:latin typeface="+mn-lt"/>
          <a:ea typeface="+mn-ea"/>
        </a:defRPr>
      </a:lvl6pPr>
      <a:lvl7pPr marL="1612900" indent="-139700" algn="l" rtl="0" fontAlgn="base">
        <a:lnSpc>
          <a:spcPct val="90000"/>
        </a:lnSpc>
        <a:spcBef>
          <a:spcPts val="150"/>
        </a:spcBef>
        <a:spcAft>
          <a:spcPts val="300"/>
        </a:spcAft>
        <a:buClr>
          <a:srgbClr val="0B4DA2"/>
        </a:buClr>
        <a:buSzPct val="100000"/>
        <a:buFont typeface="Calibri" panose="020F0502020204030204" pitchFamily="34" charset="0"/>
        <a:buChar char="◦"/>
        <a:defRPr sz="1000">
          <a:solidFill>
            <a:srgbClr val="404040"/>
          </a:solidFill>
          <a:latin typeface="+mn-lt"/>
          <a:ea typeface="+mn-ea"/>
        </a:defRPr>
      </a:lvl7pPr>
      <a:lvl8pPr marL="2070100" indent="-139700" algn="l" rtl="0" fontAlgn="base">
        <a:lnSpc>
          <a:spcPct val="90000"/>
        </a:lnSpc>
        <a:spcBef>
          <a:spcPts val="150"/>
        </a:spcBef>
        <a:spcAft>
          <a:spcPts val="300"/>
        </a:spcAft>
        <a:buClr>
          <a:srgbClr val="0B4DA2"/>
        </a:buClr>
        <a:buSzPct val="100000"/>
        <a:buFont typeface="Calibri" panose="020F0502020204030204" pitchFamily="34" charset="0"/>
        <a:buChar char="◦"/>
        <a:defRPr sz="1000">
          <a:solidFill>
            <a:srgbClr val="404040"/>
          </a:solidFill>
          <a:latin typeface="+mn-lt"/>
          <a:ea typeface="+mn-ea"/>
        </a:defRPr>
      </a:lvl8pPr>
      <a:lvl9pPr marL="2527300" indent="-139700" algn="l" rtl="0" fontAlgn="base">
        <a:lnSpc>
          <a:spcPct val="90000"/>
        </a:lnSpc>
        <a:spcBef>
          <a:spcPts val="150"/>
        </a:spcBef>
        <a:spcAft>
          <a:spcPts val="300"/>
        </a:spcAft>
        <a:buClr>
          <a:srgbClr val="0B4DA2"/>
        </a:buClr>
        <a:buSzPct val="100000"/>
        <a:buFont typeface="Calibri" panose="020F0502020204030204" pitchFamily="34" charset="0"/>
        <a:buChar char="◦"/>
        <a:defRPr sz="1000">
          <a:solidFill>
            <a:srgbClr val="40404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1" y="2152650"/>
            <a:ext cx="12192000" cy="2773311"/>
          </a:xfrm>
          <a:prstGeom prst="rect">
            <a:avLst/>
          </a:prstGeom>
          <a:ln w="3175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粉末</a:t>
            </a:r>
            <a:r>
              <a:rPr lang="en-US" altLang="zh-CN" sz="48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48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光衍射图</a:t>
            </a:r>
            <a:r>
              <a:rPr lang="en-US" altLang="zh-CN" sz="48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EM</a:t>
            </a:r>
            <a:r>
              <a:rPr lang="zh-CN" altLang="en-US" sz="48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算法全谱线拟合</a:t>
            </a:r>
            <a:endParaRPr lang="zh-CN" altLang="en-US" sz="48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239904" y="5220208"/>
            <a:ext cx="3712193" cy="1101735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</a:rPr>
              <a:t>报告人：曹    斌</a:t>
            </a:r>
            <a:endParaRPr lang="en-US" altLang="zh-CN" sz="28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l"/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</a:rPr>
              <a:t>导    师： 张统一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5" t="22727" r="3269" b="18160"/>
          <a:stretch>
            <a:fillRect/>
          </a:stretch>
        </p:blipFill>
        <p:spPr>
          <a:xfrm>
            <a:off x="121694" y="198409"/>
            <a:ext cx="3690711" cy="1535702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1602594" y="6446235"/>
            <a:ext cx="432000" cy="288000"/>
          </a:xfrm>
        </p:spPr>
        <p:txBody>
          <a:bodyPr/>
          <a:lstStyle/>
          <a:p>
            <a:fld id="{082750FE-9F51-4078-82DD-80D7A1767E5A}" type="slidenum">
              <a:rPr lang="zh-CN" altLang="en-US" smtClean="0"/>
              <a:t>1</a:t>
            </a:fld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C5ADE6-D9EB-219C-AB9D-4CB4990F6391}"/>
              </a:ext>
            </a:extLst>
          </p:cNvPr>
          <p:cNvSpPr txBox="1"/>
          <p:nvPr/>
        </p:nvSpPr>
        <p:spPr>
          <a:xfrm>
            <a:off x="7342060" y="4279630"/>
            <a:ext cx="4585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3600" b="1" dirty="0">
                <a:solidFill>
                  <a:schemeClr val="bg1"/>
                </a:solidFill>
              </a:rPr>
              <a:t> amorphous </a:t>
            </a:r>
            <a:r>
              <a:rPr lang="en-US" sz="3600" b="1" dirty="0">
                <a:solidFill>
                  <a:schemeClr val="bg1"/>
                </a:solidFill>
              </a:rPr>
              <a:t>diffraction</a:t>
            </a:r>
            <a:endParaRPr lang="en-CN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hart, histogram&#10;&#10;Description automatically generated">
            <a:extLst>
              <a:ext uri="{FF2B5EF4-FFF2-40B4-BE49-F238E27FC236}">
                <a16:creationId xmlns:a16="http://schemas.microsoft.com/office/drawing/2014/main" id="{70CCEE2D-77FA-9159-68B7-AB8A0AD75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76" y="893601"/>
            <a:ext cx="8244372" cy="54962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C9E89B-2AE2-C439-ACAC-7BEBA7976411}"/>
              </a:ext>
            </a:extLst>
          </p:cNvPr>
          <p:cNvSpPr txBox="1"/>
          <p:nvPr/>
        </p:nvSpPr>
        <p:spPr>
          <a:xfrm>
            <a:off x="1602189" y="3121459"/>
            <a:ext cx="25410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Rp=2.070, Rwp=3.218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DCC5B7-A89D-D2A0-8A53-EA0FF6462077}"/>
              </a:ext>
            </a:extLst>
          </p:cNvPr>
          <p:cNvSpPr/>
          <p:nvPr/>
        </p:nvSpPr>
        <p:spPr>
          <a:xfrm>
            <a:off x="1506842" y="3536486"/>
            <a:ext cx="420787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relative bulk crystallinity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39.799%</a:t>
            </a:r>
            <a:endParaRPr lang="en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6EEC90-556F-5D65-81C2-4F5F388648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220" y="1165160"/>
            <a:ext cx="4034885" cy="4619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728F80-54EC-B738-6760-B95D91452717}"/>
              </a:ext>
            </a:extLst>
          </p:cNvPr>
          <p:cNvSpPr txBox="1"/>
          <p:nvPr/>
        </p:nvSpPr>
        <p:spPr>
          <a:xfrm>
            <a:off x="3756889" y="1135271"/>
            <a:ext cx="15087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PB form I</a:t>
            </a:r>
            <a:r>
              <a:rPr lang="en-CN" sz="3200" dirty="0">
                <a:effectLst/>
              </a:rPr>
              <a:t> </a:t>
            </a:r>
            <a:endParaRPr lang="en-CN" sz="32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745805" y="6492875"/>
            <a:ext cx="1311275" cy="365125"/>
          </a:xfrm>
        </p:spPr>
        <p:txBody>
          <a:bodyPr/>
          <a:lstStyle/>
          <a:p>
            <a:fld id="{89DB14B3-731A-4352-BC82-B1993596BD11}" type="slidenum">
              <a:rPr lang="zh-CN" altLang="en-US" smtClean="0"/>
              <a:t>2</a:t>
            </a:fld>
            <a:endParaRPr lang="zh-CN" alt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D545D71-D1B1-9682-4ED8-40BDB211F37A}"/>
              </a:ext>
            </a:extLst>
          </p:cNvPr>
          <p:cNvCxnSpPr>
            <a:cxnSpLocks/>
          </p:cNvCxnSpPr>
          <p:nvPr/>
        </p:nvCxnSpPr>
        <p:spPr bwMode="auto">
          <a:xfrm flipV="1">
            <a:off x="6511481" y="3521569"/>
            <a:ext cx="276945" cy="175034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CC64B79-C39C-C2A8-41B9-C46C8AFDF9D4}"/>
              </a:ext>
            </a:extLst>
          </p:cNvPr>
          <p:cNvSpPr txBox="1"/>
          <p:nvPr/>
        </p:nvSpPr>
        <p:spPr>
          <a:xfrm>
            <a:off x="5971888" y="2551601"/>
            <a:ext cx="189186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800" dirty="0"/>
              <a:t>Amorphous</a:t>
            </a:r>
          </a:p>
          <a:p>
            <a:r>
              <a:rPr lang="en-CN" sz="2800" dirty="0"/>
              <a:t> halos</a:t>
            </a:r>
          </a:p>
          <a:p>
            <a:endParaRPr lang="en-CN" sz="2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DB8D11C-BDA7-2828-0F1A-EE2F853C8A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5684" y="2346750"/>
            <a:ext cx="4181396" cy="2349637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29ACB6F-3110-A85E-76C5-7FAF7BE6C8BF}"/>
              </a:ext>
            </a:extLst>
          </p:cNvPr>
          <p:cNvSpPr txBox="1"/>
          <p:nvPr/>
        </p:nvSpPr>
        <p:spPr>
          <a:xfrm>
            <a:off x="8390455" y="4535453"/>
            <a:ext cx="34768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800" dirty="0"/>
              <a:t>Amorphous pattern</a:t>
            </a:r>
          </a:p>
          <a:p>
            <a:endParaRPr lang="en-CN" sz="280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818BA81-0C91-FDF4-E0C7-E8F8D11CC617}"/>
              </a:ext>
            </a:extLst>
          </p:cNvPr>
          <p:cNvCxnSpPr>
            <a:cxnSpLocks/>
          </p:cNvCxnSpPr>
          <p:nvPr/>
        </p:nvCxnSpPr>
        <p:spPr bwMode="auto">
          <a:xfrm flipV="1">
            <a:off x="6663881" y="4462670"/>
            <a:ext cx="1726574" cy="96164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3830676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745805" y="6492875"/>
            <a:ext cx="1311275" cy="365125"/>
          </a:xfrm>
        </p:spPr>
        <p:txBody>
          <a:bodyPr/>
          <a:lstStyle/>
          <a:p>
            <a:fld id="{89DB14B3-731A-4352-BC82-B1993596BD11}" type="slidenum">
              <a:rPr lang="zh-CN" altLang="en-US" smtClean="0"/>
              <a:t>3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DB39636-615D-16DA-CE06-1A016CCDEEC7}"/>
                  </a:ext>
                </a:extLst>
              </p:cNvPr>
              <p:cNvSpPr txBox="1"/>
              <p:nvPr/>
            </p:nvSpPr>
            <p:spPr>
              <a:xfrm>
                <a:off x="327377" y="4635577"/>
                <a:ext cx="6175022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sz="2400" dirty="0"/>
                  <a:t>2: a density function </a:t>
                </a:r>
                <a14:m>
                  <m:oMath xmlns:m="http://schemas.openxmlformats.org/officeDocument/2006/math">
                    <m:r>
                      <a:rPr lang="en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endParaRPr lang="en-CN" sz="2400" dirty="0"/>
              </a:p>
              <a:p>
                <a:r>
                  <a:rPr lang="en-CN" sz="2400" dirty="0"/>
                  <a:t>The atom number at the shell :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𝑑𝑟</m:t>
                    </m:r>
                  </m:oMath>
                </a14:m>
                <a:r>
                  <a:rPr lang="en-CN" sz="2400" dirty="0"/>
                  <a:t> </a:t>
                </a:r>
              </a:p>
              <a:p>
                <a:endParaRPr lang="en-CN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DB39636-615D-16DA-CE06-1A016CCDEE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77" y="4635577"/>
                <a:ext cx="6175022" cy="1938992"/>
              </a:xfrm>
              <a:prstGeom prst="rect">
                <a:avLst/>
              </a:prstGeom>
              <a:blipFill>
                <a:blip r:embed="rId3"/>
                <a:stretch>
                  <a:fillRect l="-1434" t="-194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FB668021-B7D4-14D3-87F2-50A22FBE95B2}"/>
              </a:ext>
            </a:extLst>
          </p:cNvPr>
          <p:cNvSpPr/>
          <p:nvPr/>
        </p:nvSpPr>
        <p:spPr bwMode="auto">
          <a:xfrm>
            <a:off x="1817509" y="2851010"/>
            <a:ext cx="361244" cy="383823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N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60D6B3E-CC9B-FDFD-A555-22A565F3FE47}"/>
              </a:ext>
            </a:extLst>
          </p:cNvPr>
          <p:cNvSpPr/>
          <p:nvPr/>
        </p:nvSpPr>
        <p:spPr bwMode="auto">
          <a:xfrm>
            <a:off x="920044" y="1959189"/>
            <a:ext cx="2133599" cy="2167467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N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B423B5C-7868-A8F4-E7D9-628B2123AE22}"/>
              </a:ext>
            </a:extLst>
          </p:cNvPr>
          <p:cNvSpPr/>
          <p:nvPr/>
        </p:nvSpPr>
        <p:spPr bwMode="auto">
          <a:xfrm>
            <a:off x="2873020" y="2851010"/>
            <a:ext cx="361244" cy="383823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N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977ED85-88E4-78A8-5FCB-EF06CA561622}"/>
              </a:ext>
            </a:extLst>
          </p:cNvPr>
          <p:cNvSpPr/>
          <p:nvPr/>
        </p:nvSpPr>
        <p:spPr bwMode="auto">
          <a:xfrm>
            <a:off x="1806221" y="1666421"/>
            <a:ext cx="361244" cy="383823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N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89680F6-FB61-D828-75DF-5F0FEE770B9E}"/>
              </a:ext>
            </a:extLst>
          </p:cNvPr>
          <p:cNvSpPr/>
          <p:nvPr/>
        </p:nvSpPr>
        <p:spPr bwMode="auto">
          <a:xfrm>
            <a:off x="2039054" y="4095331"/>
            <a:ext cx="361244" cy="383823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N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726DC6C-FC0B-4FE3-DA4A-BCAB00940425}"/>
              </a:ext>
            </a:extLst>
          </p:cNvPr>
          <p:cNvSpPr/>
          <p:nvPr/>
        </p:nvSpPr>
        <p:spPr bwMode="auto">
          <a:xfrm>
            <a:off x="721777" y="3036249"/>
            <a:ext cx="361244" cy="383823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N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B857824-4E7A-EF83-7A7F-B172143B44D5}"/>
              </a:ext>
            </a:extLst>
          </p:cNvPr>
          <p:cNvSpPr/>
          <p:nvPr/>
        </p:nvSpPr>
        <p:spPr bwMode="auto">
          <a:xfrm>
            <a:off x="2715620" y="2114407"/>
            <a:ext cx="361244" cy="383823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N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0E39F1-D256-5169-703A-7DDEE5E34D68}"/>
              </a:ext>
            </a:extLst>
          </p:cNvPr>
          <p:cNvSpPr/>
          <p:nvPr/>
        </p:nvSpPr>
        <p:spPr bwMode="auto">
          <a:xfrm>
            <a:off x="2599264" y="3680701"/>
            <a:ext cx="361244" cy="383823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N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8228B4-DF5B-BC06-6CF8-D47C5678E8AE}"/>
              </a:ext>
            </a:extLst>
          </p:cNvPr>
          <p:cNvSpPr/>
          <p:nvPr/>
        </p:nvSpPr>
        <p:spPr bwMode="auto">
          <a:xfrm>
            <a:off x="1169199" y="3727572"/>
            <a:ext cx="361244" cy="383823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N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645891C-62C3-0D3D-6DB1-A840A5DEBE96}"/>
              </a:ext>
            </a:extLst>
          </p:cNvPr>
          <p:cNvSpPr/>
          <p:nvPr/>
        </p:nvSpPr>
        <p:spPr bwMode="auto">
          <a:xfrm>
            <a:off x="1100666" y="2114407"/>
            <a:ext cx="361244" cy="383823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N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E46E0F-DA14-643B-B04F-84F6B9B90F9D}"/>
              </a:ext>
            </a:extLst>
          </p:cNvPr>
          <p:cNvSpPr txBox="1"/>
          <p:nvPr/>
        </p:nvSpPr>
        <p:spPr>
          <a:xfrm>
            <a:off x="383822" y="1103404"/>
            <a:ext cx="61750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400" dirty="0"/>
              <a:t>1: </a:t>
            </a:r>
            <a:r>
              <a:rPr lang="en-US" sz="2400" dirty="0"/>
              <a:t>physical model</a:t>
            </a:r>
            <a:endParaRPr lang="en-CN" sz="2400" dirty="0"/>
          </a:p>
          <a:p>
            <a:endParaRPr lang="en-CN" sz="24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A3B1D95-022F-A9EE-27CC-AFF8B7344EAB}"/>
              </a:ext>
            </a:extLst>
          </p:cNvPr>
          <p:cNvSpPr/>
          <p:nvPr/>
        </p:nvSpPr>
        <p:spPr bwMode="auto">
          <a:xfrm>
            <a:off x="3742263" y="2259674"/>
            <a:ext cx="361244" cy="383823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N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4B69AF-D6A6-1C1A-68E0-A464C55680CE}"/>
              </a:ext>
            </a:extLst>
          </p:cNvPr>
          <p:cNvSpPr txBox="1"/>
          <p:nvPr/>
        </p:nvSpPr>
        <p:spPr>
          <a:xfrm>
            <a:off x="4103507" y="2220752"/>
            <a:ext cx="14506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: an atom</a:t>
            </a:r>
            <a:endParaRPr lang="en-CN" sz="240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67DD646-73F9-EF6E-803B-DB412BE4E7AB}"/>
              </a:ext>
            </a:extLst>
          </p:cNvPr>
          <p:cNvSpPr/>
          <p:nvPr/>
        </p:nvSpPr>
        <p:spPr bwMode="auto">
          <a:xfrm>
            <a:off x="1245997" y="2175886"/>
            <a:ext cx="1566334" cy="169215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N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E163DF5-2A97-2534-3542-3597F827445A}"/>
              </a:ext>
            </a:extLst>
          </p:cNvPr>
          <p:cNvSpPr/>
          <p:nvPr/>
        </p:nvSpPr>
        <p:spPr bwMode="auto">
          <a:xfrm>
            <a:off x="657577" y="1602098"/>
            <a:ext cx="2762955" cy="2868302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N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50DA2BD-489F-A46F-7323-14670C092964}"/>
              </a:ext>
            </a:extLst>
          </p:cNvPr>
          <p:cNvCxnSpPr/>
          <p:nvPr/>
        </p:nvCxnSpPr>
        <p:spPr bwMode="auto">
          <a:xfrm flipV="1">
            <a:off x="2791169" y="2643497"/>
            <a:ext cx="629363" cy="20751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15813C6-2134-FD3D-5687-1DA7B66C6838}"/>
              </a:ext>
            </a:extLst>
          </p:cNvPr>
          <p:cNvSpPr txBox="1"/>
          <p:nvPr/>
        </p:nvSpPr>
        <p:spPr>
          <a:xfrm>
            <a:off x="2906880" y="2310281"/>
            <a:ext cx="14506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dr</a:t>
            </a:r>
            <a:endParaRPr lang="en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EC990AC-9D04-6783-7DDD-F8801E06C8D9}"/>
                  </a:ext>
                </a:extLst>
              </p:cNvPr>
              <p:cNvSpPr txBox="1"/>
              <p:nvPr/>
            </p:nvSpPr>
            <p:spPr>
              <a:xfrm>
                <a:off x="5901628" y="1197761"/>
                <a:ext cx="6445225" cy="51139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/>
                  <a:t>3</a:t>
                </a:r>
                <a:r>
                  <a:rPr lang="en-CN" sz="2400" dirty="0"/>
                  <a:t>: the diffraction intensity of a single atom</a:t>
                </a:r>
              </a:p>
              <a:p>
                <a:endParaRPr lang="en-CN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𝑐𝑜𝑠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CN" sz="2400" dirty="0">
                  <a:ea typeface="Cambria Math" panose="02040503050406030204" pitchFamily="18" charset="0"/>
                </a:endParaRPr>
              </a:p>
              <a:p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:r>
                  <a:rPr lang="en-CN" sz="2400" dirty="0">
                    <a:ea typeface="Cambria Math" panose="02040503050406030204" pitchFamily="18" charset="0"/>
                  </a:rPr>
                  <a:t>: the diffraction intensity, </a:t>
                </a:r>
                <a:r>
                  <a:rPr lang="en-US" sz="2400" dirty="0">
                    <a:ea typeface="Cambria Math" panose="02040503050406030204" pitchFamily="18" charset="0"/>
                  </a:rPr>
                  <a:t>mass and charge of electron</a:t>
                </a:r>
                <a:r>
                  <a:rPr lang="en-CN" sz="2400" dirty="0">
                    <a:ea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>
                    <a:ea typeface="Cambria Math" panose="02040503050406030204" pitchFamily="18" charset="0"/>
                  </a:rPr>
                  <a:t>：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intensity of  </a:t>
                </a:r>
                <a:r>
                  <a:rPr lang="en-US" sz="2400" dirty="0">
                    <a:ea typeface="Cambria Math" panose="02040503050406030204" pitchFamily="18" charset="0"/>
                  </a:rPr>
                  <a:t>incident ray</a:t>
                </a:r>
              </a:p>
              <a:p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CN" sz="2400" dirty="0">
                    <a:ea typeface="Cambria Math" panose="02040503050406030204" pitchFamily="18" charset="0"/>
                  </a:rPr>
                  <a:t>:atom diffraction factor</a:t>
                </a:r>
              </a:p>
              <a:p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the angle between the </a:t>
                </a:r>
                <a:r>
                  <a:rPr lang="en-CN" sz="2400" dirty="0">
                    <a:ea typeface="Cambria Math" panose="02040503050406030204" pitchFamily="18" charset="0"/>
                  </a:rPr>
                  <a:t>diffraction</a:t>
                </a:r>
                <a:r>
                  <a:rPr lang="en-US" sz="2400" dirty="0">
                    <a:ea typeface="Cambria Math" panose="02040503050406030204" pitchFamily="18" charset="0"/>
                  </a:rPr>
                  <a:t> ray direction and the incident ray</a:t>
                </a:r>
              </a:p>
              <a:p>
                <a:r>
                  <a:rPr lang="en-US" sz="2400" dirty="0">
                    <a:ea typeface="Cambria Math" panose="02040503050406030204" pitchFamily="18" charset="0"/>
                  </a:rPr>
                  <a:t>R: the distance between sample and detector</a:t>
                </a:r>
                <a:endParaRPr lang="en-CN" sz="240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𝑐𝑜𝑠</m:t>
                            </m:r>
                          </m:e>
                          <m:sup>
                            <m: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is polarization factor</a:t>
                </a:r>
                <a:endParaRPr lang="en-CN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EC990AC-9D04-6783-7DDD-F8801E06C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1628" y="1197761"/>
                <a:ext cx="6445225" cy="5113900"/>
              </a:xfrm>
              <a:prstGeom prst="rect">
                <a:avLst/>
              </a:prstGeom>
              <a:blipFill>
                <a:blip r:embed="rId4"/>
                <a:stretch>
                  <a:fillRect l="-1572" t="-993" r="-786" b="-49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482AB753-7611-292D-115C-633831FE1C7A}"/>
              </a:ext>
            </a:extLst>
          </p:cNvPr>
          <p:cNvSpPr txBox="1"/>
          <p:nvPr/>
        </p:nvSpPr>
        <p:spPr>
          <a:xfrm>
            <a:off x="3280849" y="3754711"/>
            <a:ext cx="16642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/>
              <a:t>A ball in 3-d</a:t>
            </a:r>
          </a:p>
        </p:txBody>
      </p:sp>
    </p:spTree>
    <p:extLst>
      <p:ext uri="{BB962C8B-B14F-4D97-AF65-F5344CB8AC3E}">
        <p14:creationId xmlns:p14="http://schemas.microsoft.com/office/powerpoint/2010/main" val="2006155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745805" y="6492875"/>
            <a:ext cx="1311275" cy="365125"/>
          </a:xfrm>
        </p:spPr>
        <p:txBody>
          <a:bodyPr/>
          <a:lstStyle/>
          <a:p>
            <a:fld id="{89DB14B3-731A-4352-BC82-B1993596BD11}" type="slidenum">
              <a:rPr lang="zh-CN" altLang="en-US" sz="2400" smtClean="0"/>
              <a:t>4</a:t>
            </a:fld>
            <a:endParaRPr lang="zh-CN" altLang="en-US" sz="24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FC09934-3CED-91A6-55E9-41E4EA0C90CA}"/>
              </a:ext>
            </a:extLst>
          </p:cNvPr>
          <p:cNvSpPr/>
          <p:nvPr/>
        </p:nvSpPr>
        <p:spPr bwMode="auto">
          <a:xfrm>
            <a:off x="1343375" y="2365588"/>
            <a:ext cx="361244" cy="383823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N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7D70FAA-2008-3AF3-2ABE-8B5833F19E03}"/>
              </a:ext>
            </a:extLst>
          </p:cNvPr>
          <p:cNvSpPr/>
          <p:nvPr/>
        </p:nvSpPr>
        <p:spPr bwMode="auto">
          <a:xfrm>
            <a:off x="445910" y="1473767"/>
            <a:ext cx="2133599" cy="2167467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N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3F39A30-7790-BE82-A3F1-FD1A714D253F}"/>
              </a:ext>
            </a:extLst>
          </p:cNvPr>
          <p:cNvSpPr/>
          <p:nvPr/>
        </p:nvSpPr>
        <p:spPr bwMode="auto">
          <a:xfrm>
            <a:off x="2398886" y="2365588"/>
            <a:ext cx="361244" cy="383823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N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87C4969-8E33-91E9-2056-DBC36580647E}"/>
              </a:ext>
            </a:extLst>
          </p:cNvPr>
          <p:cNvSpPr/>
          <p:nvPr/>
        </p:nvSpPr>
        <p:spPr bwMode="auto">
          <a:xfrm>
            <a:off x="1332087" y="1281853"/>
            <a:ext cx="361244" cy="383823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N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A819412-65AA-A668-683A-001C07B68508}"/>
              </a:ext>
            </a:extLst>
          </p:cNvPr>
          <p:cNvSpPr/>
          <p:nvPr/>
        </p:nvSpPr>
        <p:spPr bwMode="auto">
          <a:xfrm>
            <a:off x="1332087" y="3500122"/>
            <a:ext cx="361244" cy="383823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N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22575E4-DAB5-BDDE-0447-B3EE01B8E448}"/>
              </a:ext>
            </a:extLst>
          </p:cNvPr>
          <p:cNvSpPr/>
          <p:nvPr/>
        </p:nvSpPr>
        <p:spPr bwMode="auto">
          <a:xfrm>
            <a:off x="265288" y="2368410"/>
            <a:ext cx="361244" cy="383823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N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B17ACDA-F632-6154-1FAB-C1C494D86222}"/>
              </a:ext>
            </a:extLst>
          </p:cNvPr>
          <p:cNvSpPr/>
          <p:nvPr/>
        </p:nvSpPr>
        <p:spPr bwMode="auto">
          <a:xfrm>
            <a:off x="2127954" y="1665676"/>
            <a:ext cx="361244" cy="383823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N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99931F3-B06D-9FDA-EC45-D4B7B4C3DB6E}"/>
              </a:ext>
            </a:extLst>
          </p:cNvPr>
          <p:cNvSpPr/>
          <p:nvPr/>
        </p:nvSpPr>
        <p:spPr bwMode="auto">
          <a:xfrm>
            <a:off x="2125130" y="3195279"/>
            <a:ext cx="361244" cy="383823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N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EC93825-8E5B-1A89-6CFE-BAD993AC8363}"/>
              </a:ext>
            </a:extLst>
          </p:cNvPr>
          <p:cNvSpPr/>
          <p:nvPr/>
        </p:nvSpPr>
        <p:spPr bwMode="auto">
          <a:xfrm>
            <a:off x="626532" y="3195279"/>
            <a:ext cx="361244" cy="383823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N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A05F381-8897-4B28-01F5-43C381460EFA}"/>
              </a:ext>
            </a:extLst>
          </p:cNvPr>
          <p:cNvSpPr/>
          <p:nvPr/>
        </p:nvSpPr>
        <p:spPr bwMode="auto">
          <a:xfrm>
            <a:off x="626532" y="1628985"/>
            <a:ext cx="361244" cy="383823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N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AAEF06-7ACC-67BB-DF7F-7D73B6DA81A7}"/>
              </a:ext>
            </a:extLst>
          </p:cNvPr>
          <p:cNvSpPr txBox="1"/>
          <p:nvPr/>
        </p:nvSpPr>
        <p:spPr>
          <a:xfrm>
            <a:off x="4267623" y="1076791"/>
            <a:ext cx="6633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b="1" dirty="0">
                <a:solidFill>
                  <a:schemeClr val="tx2"/>
                </a:solidFill>
              </a:rPr>
              <a:t>Assume</a:t>
            </a:r>
            <a:r>
              <a:rPr lang="en-CN" sz="2400" dirty="0"/>
              <a:t> there are Z+1 atom contained in the cluster</a:t>
            </a:r>
          </a:p>
          <a:p>
            <a:endParaRPr lang="en-CN" sz="2400" dirty="0"/>
          </a:p>
          <a:p>
            <a:r>
              <a:rPr lang="en-CN" sz="2400" dirty="0"/>
              <a:t>At a specific moment, we thave  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A1F2159-BA6B-298D-77DA-454199B53BA8}"/>
              </a:ext>
            </a:extLst>
          </p:cNvPr>
          <p:cNvCxnSpPr>
            <a:stCxn id="2" idx="4"/>
          </p:cNvCxnSpPr>
          <p:nvPr/>
        </p:nvCxnSpPr>
        <p:spPr bwMode="auto">
          <a:xfrm flipH="1">
            <a:off x="626532" y="2749411"/>
            <a:ext cx="897465" cy="1551656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4C26BE3-2059-F611-587D-A0CE42333093}"/>
              </a:ext>
            </a:extLst>
          </p:cNvPr>
          <p:cNvSpPr txBox="1"/>
          <p:nvPr/>
        </p:nvSpPr>
        <p:spPr>
          <a:xfrm>
            <a:off x="108690" y="4451118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2400" dirty="0"/>
              <a:t>coordinate origin</a:t>
            </a:r>
          </a:p>
          <a:p>
            <a:r>
              <a:rPr lang="en-US" sz="2400" dirty="0"/>
              <a:t>,o</a:t>
            </a:r>
            <a:r>
              <a:rPr lang="en-CN" sz="2400" dirty="0"/>
              <a:t>ne atom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D5757FD-EF05-E9BE-D589-05BE09F7C799}"/>
              </a:ext>
            </a:extLst>
          </p:cNvPr>
          <p:cNvCxnSpPr>
            <a:cxnSpLocks/>
            <a:endCxn id="19" idx="0"/>
          </p:cNvCxnSpPr>
          <p:nvPr/>
        </p:nvCxnSpPr>
        <p:spPr bwMode="auto">
          <a:xfrm>
            <a:off x="2453955" y="2987236"/>
            <a:ext cx="702735" cy="146388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7D832FE-F9E3-9899-5C88-272BD1844920}"/>
              </a:ext>
            </a:extLst>
          </p:cNvPr>
          <p:cNvSpPr txBox="1"/>
          <p:nvPr/>
        </p:nvSpPr>
        <p:spPr>
          <a:xfrm>
            <a:off x="2760130" y="4460904"/>
            <a:ext cx="16086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2400" dirty="0"/>
              <a:t>Z</a:t>
            </a:r>
            <a:r>
              <a:rPr lang="zh-CN" altLang="en-US" sz="2400" dirty="0"/>
              <a:t> </a:t>
            </a:r>
            <a:r>
              <a:rPr lang="en-US" altLang="zh-CN" sz="2400" dirty="0"/>
              <a:t>atoms</a:t>
            </a:r>
            <a:endParaRPr lang="en-CN" sz="24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BEA9D4B-FC4D-60DD-7F43-AB99B84383DE}"/>
              </a:ext>
            </a:extLst>
          </p:cNvPr>
          <p:cNvCxnSpPr>
            <a:cxnSpLocks/>
          </p:cNvCxnSpPr>
          <p:nvPr/>
        </p:nvCxnSpPr>
        <p:spPr bwMode="auto">
          <a:xfrm flipV="1">
            <a:off x="1519765" y="1820896"/>
            <a:ext cx="785987" cy="72668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2E0D7A7-B9B0-A46B-97FF-F5E42F715270}"/>
              </a:ext>
            </a:extLst>
          </p:cNvPr>
          <p:cNvSpPr txBox="1"/>
          <p:nvPr/>
        </p:nvSpPr>
        <p:spPr>
          <a:xfrm>
            <a:off x="179001" y="1959777"/>
            <a:ext cx="32233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2400" dirty="0"/>
              <a:t>displacement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232214D-EF8A-82D3-34F0-65DE77E727AE}"/>
                  </a:ext>
                </a:extLst>
              </p:cNvPr>
              <p:cNvSpPr txBox="1"/>
              <p:nvPr/>
            </p:nvSpPr>
            <p:spPr>
              <a:xfrm>
                <a:off x="1177810" y="1628028"/>
                <a:ext cx="160867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N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232214D-EF8A-82D3-34F0-65DE77E727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810" y="1628028"/>
                <a:ext cx="1608670" cy="461665"/>
              </a:xfrm>
              <a:prstGeom prst="rect">
                <a:avLst/>
              </a:prstGeom>
              <a:blipFill>
                <a:blip r:embed="rId3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2F9A2A8-C634-18CD-749A-B08582F252EF}"/>
              </a:ext>
            </a:extLst>
          </p:cNvPr>
          <p:cNvCxnSpPr/>
          <p:nvPr/>
        </p:nvCxnSpPr>
        <p:spPr bwMode="auto">
          <a:xfrm>
            <a:off x="5298376" y="2616910"/>
            <a:ext cx="1704622" cy="11359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F8BC931-13AC-C3CE-4814-927CB5EAE1C3}"/>
              </a:ext>
            </a:extLst>
          </p:cNvPr>
          <p:cNvCxnSpPr>
            <a:cxnSpLocks/>
          </p:cNvCxnSpPr>
          <p:nvPr/>
        </p:nvCxnSpPr>
        <p:spPr bwMode="auto">
          <a:xfrm flipV="1">
            <a:off x="7002998" y="2359280"/>
            <a:ext cx="2686758" cy="136637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A2FD250-90EB-39A7-3BE3-D851FF1B59EC}"/>
              </a:ext>
            </a:extLst>
          </p:cNvPr>
          <p:cNvCxnSpPr/>
          <p:nvPr/>
        </p:nvCxnSpPr>
        <p:spPr bwMode="auto">
          <a:xfrm>
            <a:off x="5038112" y="3508733"/>
            <a:ext cx="1704622" cy="11359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25CA34D-E8CE-8661-F6C5-1DFBB17CE576}"/>
              </a:ext>
            </a:extLst>
          </p:cNvPr>
          <p:cNvCxnSpPr>
            <a:cxnSpLocks/>
          </p:cNvCxnSpPr>
          <p:nvPr/>
        </p:nvCxnSpPr>
        <p:spPr bwMode="auto">
          <a:xfrm flipV="1">
            <a:off x="6742734" y="3251103"/>
            <a:ext cx="2686758" cy="136637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465DEF8-1744-DCD6-21F5-9B2E5DB76641}"/>
              </a:ext>
            </a:extLst>
          </p:cNvPr>
          <p:cNvCxnSpPr>
            <a:cxnSpLocks/>
          </p:cNvCxnSpPr>
          <p:nvPr/>
        </p:nvCxnSpPr>
        <p:spPr bwMode="auto">
          <a:xfrm flipV="1">
            <a:off x="6758567" y="3752891"/>
            <a:ext cx="283944" cy="78201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A557D9C-56ED-D827-7A5D-1626A9E72C1E}"/>
                  </a:ext>
                </a:extLst>
              </p:cNvPr>
              <p:cNvSpPr txBox="1"/>
              <p:nvPr/>
            </p:nvSpPr>
            <p:spPr>
              <a:xfrm>
                <a:off x="5831773" y="3793014"/>
                <a:ext cx="160867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N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A557D9C-56ED-D827-7A5D-1626A9E72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1773" y="3793014"/>
                <a:ext cx="1608670" cy="461665"/>
              </a:xfrm>
              <a:prstGeom prst="rect">
                <a:avLst/>
              </a:prstGeom>
              <a:blipFill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8D0FA00-EC5A-F087-613B-23A069CDA166}"/>
                  </a:ext>
                </a:extLst>
              </p:cNvPr>
              <p:cNvSpPr txBox="1"/>
              <p:nvPr/>
            </p:nvSpPr>
            <p:spPr>
              <a:xfrm>
                <a:off x="6165106" y="2962671"/>
                <a:ext cx="37755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N" sz="2400" i="1"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8D0FA00-EC5A-F087-613B-23A069CDA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106" y="2962671"/>
                <a:ext cx="377558" cy="369332"/>
              </a:xfrm>
              <a:prstGeom prst="rect">
                <a:avLst/>
              </a:prstGeom>
              <a:blipFill>
                <a:blip r:embed="rId5"/>
                <a:stretch>
                  <a:fillRect l="-16129" b="-1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1B92AA1-7821-D149-85FD-1A2D4CBDFF4C}"/>
                  </a:ext>
                </a:extLst>
              </p:cNvPr>
              <p:cNvSpPr txBox="1"/>
              <p:nvPr/>
            </p:nvSpPr>
            <p:spPr>
              <a:xfrm>
                <a:off x="5984179" y="3977680"/>
                <a:ext cx="37755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N" sz="2400" i="1"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1B92AA1-7821-D149-85FD-1A2D4CBDF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179" y="3977680"/>
                <a:ext cx="377558" cy="369332"/>
              </a:xfrm>
              <a:prstGeom prst="rect">
                <a:avLst/>
              </a:prstGeom>
              <a:blipFill>
                <a:blip r:embed="rId6"/>
                <a:stretch>
                  <a:fillRect l="-16129" b="-1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551447C-3FFB-17E4-B0DD-276D9A84CD92}"/>
                  </a:ext>
                </a:extLst>
              </p:cNvPr>
              <p:cNvSpPr txBox="1"/>
              <p:nvPr/>
            </p:nvSpPr>
            <p:spPr>
              <a:xfrm>
                <a:off x="7436690" y="3013030"/>
                <a:ext cx="37755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N" sz="2400" i="1"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551447C-3FFB-17E4-B0DD-276D9A84CD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6690" y="3013030"/>
                <a:ext cx="377558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8186E2E-3EE2-CE52-51F1-84CFB33FFB7E}"/>
                  </a:ext>
                </a:extLst>
              </p:cNvPr>
              <p:cNvSpPr txBox="1"/>
              <p:nvPr/>
            </p:nvSpPr>
            <p:spPr>
              <a:xfrm>
                <a:off x="7499865" y="3805279"/>
                <a:ext cx="37755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N" sz="2400" i="1"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8186E2E-3EE2-CE52-51F1-84CFB33FF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9865" y="3805279"/>
                <a:ext cx="377558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CB4C619-27E0-FEBC-5467-A2E758EE320B}"/>
              </a:ext>
            </a:extLst>
          </p:cNvPr>
          <p:cNvCxnSpPr/>
          <p:nvPr/>
        </p:nvCxnSpPr>
        <p:spPr bwMode="auto">
          <a:xfrm>
            <a:off x="7002691" y="3727769"/>
            <a:ext cx="1704622" cy="11359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</p:spPr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D032076-D64A-38EE-786D-644930141FE5}"/>
              </a:ext>
            </a:extLst>
          </p:cNvPr>
          <p:cNvCxnSpPr/>
          <p:nvPr/>
        </p:nvCxnSpPr>
        <p:spPr bwMode="auto">
          <a:xfrm flipV="1">
            <a:off x="7814248" y="3251103"/>
            <a:ext cx="63175" cy="1003576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350FB71-4D41-2509-25CD-10001F7CCA1B}"/>
                  </a:ext>
                </a:extLst>
              </p:cNvPr>
              <p:cNvSpPr txBox="1"/>
              <p:nvPr/>
            </p:nvSpPr>
            <p:spPr>
              <a:xfrm>
                <a:off x="7437615" y="3484235"/>
                <a:ext cx="141628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N" sz="2400" i="1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CN" sz="240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N" sz="2400" i="1"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350FB71-4D41-2509-25CD-10001F7CC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7615" y="3484235"/>
                <a:ext cx="1416289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1EDE5AA-7CF3-637D-3122-B91CE14DD9AA}"/>
                  </a:ext>
                </a:extLst>
              </p:cNvPr>
              <p:cNvSpPr txBox="1"/>
              <p:nvPr/>
            </p:nvSpPr>
            <p:spPr>
              <a:xfrm>
                <a:off x="6334822" y="4763768"/>
                <a:ext cx="592666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N" sz="2400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en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1EDE5AA-7CF3-637D-3122-B91CE14DD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822" y="4763768"/>
                <a:ext cx="5926667" cy="461665"/>
              </a:xfrm>
              <a:prstGeom prst="rect">
                <a:avLst/>
              </a:prstGeom>
              <a:blipFill>
                <a:blip r:embed="rId10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F182BCB-9FCA-0106-0E7D-81CC63A3F1AA}"/>
                  </a:ext>
                </a:extLst>
              </p:cNvPr>
              <p:cNvSpPr txBox="1"/>
              <p:nvPr/>
            </p:nvSpPr>
            <p:spPr>
              <a:xfrm>
                <a:off x="5036842" y="2509758"/>
                <a:ext cx="6096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C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CN" sz="2400" i="1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C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CN" sz="2400" i="1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F182BCB-9FCA-0106-0E7D-81CC63A3F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842" y="2509758"/>
                <a:ext cx="6096000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C2F337D6-9021-E8D2-614C-0CD5EE70E707}"/>
              </a:ext>
            </a:extLst>
          </p:cNvPr>
          <p:cNvSpPr txBox="1"/>
          <p:nvPr/>
        </p:nvSpPr>
        <p:spPr>
          <a:xfrm>
            <a:off x="4267623" y="4846339"/>
            <a:ext cx="29958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2400" dirty="0"/>
              <a:t>Optical path distance: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0646342-B5A6-0D0F-ECB9-6206670E39DC}"/>
              </a:ext>
            </a:extLst>
          </p:cNvPr>
          <p:cNvSpPr txBox="1"/>
          <p:nvPr/>
        </p:nvSpPr>
        <p:spPr>
          <a:xfrm>
            <a:off x="4290744" y="5286330"/>
            <a:ext cx="29958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</a:t>
            </a:r>
            <a:r>
              <a:rPr lang="en-CN" sz="2400" dirty="0"/>
              <a:t>hase distance: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5B76826-0C1D-C6DB-6339-2ED1F6EB1958}"/>
                  </a:ext>
                </a:extLst>
              </p:cNvPr>
              <p:cNvSpPr txBox="1"/>
              <p:nvPr/>
            </p:nvSpPr>
            <p:spPr>
              <a:xfrm>
                <a:off x="7112000" y="5238503"/>
                <a:ext cx="6096000" cy="6166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∅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den>
                        </m:f>
                        <m:r>
                          <a:rPr lang="en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N" sz="2400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CN" sz="24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den>
                    </m:f>
                    <m:sSub>
                      <m:sSubPr>
                        <m:ctrlPr>
                          <a:rPr lang="en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𝑐𝑜𝑠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CN" sz="24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5B76826-0C1D-C6DB-6339-2ED1F6EB1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0" y="5238503"/>
                <a:ext cx="6096000" cy="616644"/>
              </a:xfrm>
              <a:prstGeom prst="rect">
                <a:avLst/>
              </a:prstGeom>
              <a:blipFill>
                <a:blip r:embed="rId12"/>
                <a:stretch>
                  <a:fillRect l="-624" b="-1020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CF22534-C9AC-ADF7-25B0-D47564B8D3DD}"/>
                  </a:ext>
                </a:extLst>
              </p:cNvPr>
              <p:cNvSpPr txBox="1"/>
              <p:nvPr/>
            </p:nvSpPr>
            <p:spPr>
              <a:xfrm>
                <a:off x="142749" y="5518164"/>
                <a:ext cx="169005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 :1,2,..,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CF22534-C9AC-ADF7-25B0-D47564B8D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49" y="5518164"/>
                <a:ext cx="1690054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335101E-3A45-FA8C-B9E9-BB443E56A212}"/>
                  </a:ext>
                </a:extLst>
              </p:cNvPr>
              <p:cNvSpPr txBox="1"/>
              <p:nvPr/>
            </p:nvSpPr>
            <p:spPr>
              <a:xfrm>
                <a:off x="117518" y="5872993"/>
                <a:ext cx="65697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CN" sz="2400" dirty="0"/>
                  <a:t> : angle between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N" sz="240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sz="2400" dirty="0"/>
                  <a:t>  and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CN" sz="2400">
                        <a:latin typeface="Cambria Math" panose="02040503050406030204" pitchFamily="18" charset="0"/>
                      </a:rPr>
                      <m:t>S</m:t>
                    </m:r>
                    <m:r>
                      <a:rPr lang="en-CN" sz="24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N" sz="2400"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N" sz="24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335101E-3A45-FA8C-B9E9-BB443E56A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518" y="5872993"/>
                <a:ext cx="6569764" cy="461665"/>
              </a:xfrm>
              <a:prstGeom prst="rect">
                <a:avLst/>
              </a:prstGeom>
              <a:blipFill>
                <a:blip r:embed="rId14"/>
                <a:stretch>
                  <a:fillRect t="-8108" b="-2973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2074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745805" y="6492875"/>
            <a:ext cx="1311275" cy="365125"/>
          </a:xfrm>
        </p:spPr>
        <p:txBody>
          <a:bodyPr/>
          <a:lstStyle/>
          <a:p>
            <a:fld id="{89DB14B3-731A-4352-BC82-B1993596BD11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564D1B-FF11-9B89-93BF-198D1ABA6769}"/>
              </a:ext>
            </a:extLst>
          </p:cNvPr>
          <p:cNvSpPr txBox="1"/>
          <p:nvPr/>
        </p:nvSpPr>
        <p:spPr>
          <a:xfrm>
            <a:off x="503883" y="1009794"/>
            <a:ext cx="5579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/>
              <a:t>The total diffraction intensity of the cluster,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5E2FE16-8E55-1C2E-4CCF-FED3F1B8E7B7}"/>
                  </a:ext>
                </a:extLst>
              </p:cNvPr>
              <p:cNvSpPr txBox="1"/>
              <p:nvPr/>
            </p:nvSpPr>
            <p:spPr>
              <a:xfrm>
                <a:off x="-193456" y="1605360"/>
                <a:ext cx="6096000" cy="11308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nary>
                            <m:naryPr>
                              <m:chr m:val="∑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𝑖𝑘</m:t>
                                  </m:r>
                                  <m:sSub>
                                    <m:sSubPr>
                                      <m:ctrlPr>
                                        <a:rPr lang="en-CN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CN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r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𝑐𝑜𝑠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5E2FE16-8E55-1C2E-4CCF-FED3F1B8E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3456" y="1605360"/>
                <a:ext cx="6096000" cy="1130822"/>
              </a:xfrm>
              <a:prstGeom prst="rect">
                <a:avLst/>
              </a:prstGeom>
              <a:blipFill>
                <a:blip r:embed="rId3"/>
                <a:stretch>
                  <a:fillRect t="-102222" b="-15777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34E9FF7-045D-FC2D-06EB-62B2D81C1DBC}"/>
                  </a:ext>
                </a:extLst>
              </p:cNvPr>
              <p:cNvSpPr txBox="1"/>
              <p:nvPr/>
            </p:nvSpPr>
            <p:spPr>
              <a:xfrm>
                <a:off x="579245" y="2644170"/>
                <a:ext cx="2525715" cy="784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34E9FF7-045D-FC2D-06EB-62B2D81C1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45" y="2644170"/>
                <a:ext cx="2525715" cy="784830"/>
              </a:xfrm>
              <a:prstGeom prst="rect">
                <a:avLst/>
              </a:prstGeom>
              <a:blipFill>
                <a:blip r:embed="rId4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69ACDEF-E106-5093-2D1A-3FBE3657E0DF}"/>
                  </a:ext>
                </a:extLst>
              </p:cNvPr>
              <p:cNvSpPr txBox="1"/>
              <p:nvPr/>
            </p:nvSpPr>
            <p:spPr>
              <a:xfrm>
                <a:off x="503883" y="3813221"/>
                <a:ext cx="6169378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accent2"/>
                    </a:solidFill>
                  </a:rPr>
                  <a:t>How to calculate atom’s number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CN" sz="2400" dirty="0">
                    <a:solidFill>
                      <a:schemeClr val="accent2"/>
                    </a:solidFill>
                  </a:rPr>
                  <a:t>?</a:t>
                </a:r>
              </a:p>
              <a:p>
                <a:endParaRPr lang="en-CN" sz="2400" dirty="0"/>
              </a:p>
              <a:p>
                <a:r>
                  <a:rPr lang="en-CN" sz="2400" b="1" dirty="0">
                    <a:solidFill>
                      <a:schemeClr val="tx2"/>
                    </a:solidFill>
                  </a:rPr>
                  <a:t>Assume</a:t>
                </a:r>
                <a:r>
                  <a:rPr lang="en-CN" sz="2400" dirty="0"/>
                  <a:t> that the atom is uniform distributed in sapce </a:t>
                </a:r>
              </a:p>
              <a:p>
                <a:r>
                  <a:rPr lang="en-US" sz="2400" dirty="0"/>
                  <a:t>W</a:t>
                </a:r>
                <a:r>
                  <a:rPr lang="en-CN" sz="2400" dirty="0"/>
                  <a:t>e have </a:t>
                </a:r>
              </a:p>
              <a:p>
                <a:endParaRPr lang="en-CN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69ACDEF-E106-5093-2D1A-3FBE3657E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883" y="3813221"/>
                <a:ext cx="6169378" cy="2308324"/>
              </a:xfrm>
              <a:prstGeom prst="rect">
                <a:avLst/>
              </a:prstGeom>
              <a:blipFill>
                <a:blip r:embed="rId5"/>
                <a:stretch>
                  <a:fillRect l="-1437" t="-164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1B78F3E-6E7B-0674-8763-785810220B81}"/>
                  </a:ext>
                </a:extLst>
              </p:cNvPr>
              <p:cNvSpPr txBox="1"/>
              <p:nvPr/>
            </p:nvSpPr>
            <p:spPr>
              <a:xfrm>
                <a:off x="139262" y="5291530"/>
                <a:ext cx="6169378" cy="11094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𝑖𝑘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𝑐𝑜𝑠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𝑑𝑣</m:t>
                          </m:r>
                        </m:e>
                      </m:d>
                    </m:oMath>
                  </m:oMathPara>
                </a14:m>
                <a:endParaRPr lang="en-CN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1B78F3E-6E7B-0674-8763-785810220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62" y="5291530"/>
                <a:ext cx="6169378" cy="1109471"/>
              </a:xfrm>
              <a:prstGeom prst="rect">
                <a:avLst/>
              </a:prstGeom>
              <a:blipFill>
                <a:blip r:embed="rId6"/>
                <a:stretch>
                  <a:fillRect t="-128090" b="-18314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9F13D76-2B8B-24B4-5142-DA88E2391417}"/>
                  </a:ext>
                </a:extLst>
              </p:cNvPr>
              <p:cNvSpPr txBox="1"/>
              <p:nvPr/>
            </p:nvSpPr>
            <p:spPr>
              <a:xfrm>
                <a:off x="5603660" y="1489396"/>
                <a:ext cx="5347103" cy="47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We define that : </a:t>
                </a:r>
                <a14:m>
                  <m:oMath xmlns:m="http://schemas.openxmlformats.org/officeDocument/2006/math">
                    <m:r>
                      <a:rPr lang="en-US" sz="2400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N" sz="240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en-CN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9F13D76-2B8B-24B4-5142-DA88E2391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3660" y="1489396"/>
                <a:ext cx="5347103" cy="470000"/>
              </a:xfrm>
              <a:prstGeom prst="rect">
                <a:avLst/>
              </a:prstGeom>
              <a:blipFill>
                <a:blip r:embed="rId7"/>
                <a:stretch>
                  <a:fillRect l="-1896" t="-7895" b="-2631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CD61947-1B33-5083-FF3F-F79EEC32AF96}"/>
                  </a:ext>
                </a:extLst>
              </p:cNvPr>
              <p:cNvSpPr txBox="1"/>
              <p:nvPr/>
            </p:nvSpPr>
            <p:spPr>
              <a:xfrm>
                <a:off x="5192523" y="2026346"/>
                <a:ext cx="6169378" cy="13864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4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  <m:sSup>
                                        <m:sSup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p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𝑈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𝑖𝑘</m:t>
                                  </m:r>
                                  <m:sSub>
                                    <m:sSubPr>
                                      <m:ctrlPr>
                                        <a:rPr lang="en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r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𝑐𝑜𝑠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𝑑𝑣</m:t>
                          </m:r>
                        </m:e>
                      </m:d>
                    </m:oMath>
                  </m:oMathPara>
                </a14:m>
                <a:endParaRPr lang="en-CN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CN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CD61947-1B33-5083-FF3F-F79EEC32A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2523" y="2026346"/>
                <a:ext cx="6169378" cy="1386470"/>
              </a:xfrm>
              <a:prstGeom prst="rect">
                <a:avLst/>
              </a:prstGeom>
              <a:blipFill>
                <a:blip r:embed="rId8"/>
                <a:stretch>
                  <a:fillRect t="-102727" b="-12909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6586DAB-F901-26E2-38DB-0E448097668E}"/>
                  </a:ext>
                </a:extLst>
              </p:cNvPr>
              <p:cNvSpPr txBox="1"/>
              <p:nvPr/>
            </p:nvSpPr>
            <p:spPr>
              <a:xfrm>
                <a:off x="4535092" y="3298462"/>
                <a:ext cx="8649937" cy="12904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nary>
                            <m:naryPr>
                              <m:chr m:val="∭"/>
                              <m:limLoc m:val="undOvr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4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den>
                                  </m:f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𝑈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𝑖𝑘𝑟𝑐𝑜𝑠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nary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𝑑𝑟</m:t>
                          </m:r>
                        </m:e>
                      </m:d>
                    </m:oMath>
                  </m:oMathPara>
                </a14:m>
                <a:endParaRPr lang="en-CN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6586DAB-F901-26E2-38DB-0E4480976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5092" y="3298462"/>
                <a:ext cx="8649937" cy="1290418"/>
              </a:xfrm>
              <a:prstGeom prst="rect">
                <a:avLst/>
              </a:prstGeom>
              <a:blipFill>
                <a:blip r:embed="rId9"/>
                <a:stretch>
                  <a:fillRect t="-100000" b="-15436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4F0BD15-2CF0-C963-EBE3-3F8C91EDA104}"/>
                  </a:ext>
                </a:extLst>
              </p:cNvPr>
              <p:cNvSpPr txBox="1"/>
              <p:nvPr/>
            </p:nvSpPr>
            <p:spPr>
              <a:xfrm>
                <a:off x="4648881" y="4940205"/>
                <a:ext cx="6169378" cy="11094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U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𝑠𝑖𝑛𝑘𝑟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𝑘𝑟</m:t>
                                  </m:r>
                                </m:den>
                              </m:f>
                            </m:e>
                          </m:nary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4F0BD15-2CF0-C963-EBE3-3F8C91EDA1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881" y="4940205"/>
                <a:ext cx="6169378" cy="1109471"/>
              </a:xfrm>
              <a:prstGeom prst="rect">
                <a:avLst/>
              </a:prstGeom>
              <a:blipFill>
                <a:blip r:embed="rId10"/>
                <a:stretch>
                  <a:fillRect t="-126966" b="-18314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Down Arrow 23">
            <a:extLst>
              <a:ext uri="{FF2B5EF4-FFF2-40B4-BE49-F238E27FC236}">
                <a16:creationId xmlns:a16="http://schemas.microsoft.com/office/drawing/2014/main" id="{B8205543-7B0E-D978-C710-46FE34746EA1}"/>
              </a:ext>
            </a:extLst>
          </p:cNvPr>
          <p:cNvSpPr/>
          <p:nvPr/>
        </p:nvSpPr>
        <p:spPr bwMode="auto">
          <a:xfrm>
            <a:off x="8958837" y="2947137"/>
            <a:ext cx="141284" cy="496516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N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626E69A9-E577-B481-1BBB-206835951F3C}"/>
              </a:ext>
            </a:extLst>
          </p:cNvPr>
          <p:cNvSpPr/>
          <p:nvPr/>
        </p:nvSpPr>
        <p:spPr bwMode="auto">
          <a:xfrm>
            <a:off x="8958837" y="4371043"/>
            <a:ext cx="141284" cy="496516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N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341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745805" y="6492875"/>
            <a:ext cx="1311275" cy="365125"/>
          </a:xfrm>
        </p:spPr>
        <p:txBody>
          <a:bodyPr/>
          <a:lstStyle/>
          <a:p>
            <a:fld id="{89DB14B3-731A-4352-BC82-B1993596BD11}" type="slidenum">
              <a:rPr lang="zh-CN" altLang="en-US" smtClean="0"/>
              <a:t>6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E4ABDE8-03C3-9F72-11B5-25DC25AB2BE3}"/>
                  </a:ext>
                </a:extLst>
              </p:cNvPr>
              <p:cNvSpPr txBox="1"/>
              <p:nvPr/>
            </p:nvSpPr>
            <p:spPr>
              <a:xfrm>
                <a:off x="317585" y="1904065"/>
                <a:ext cx="274170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𝑁𝐴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E4ABDE8-03C3-9F72-11B5-25DC25AB2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85" y="1904065"/>
                <a:ext cx="2741703" cy="461665"/>
              </a:xfrm>
              <a:prstGeom prst="rect">
                <a:avLst/>
              </a:prstGeom>
              <a:blipFill>
                <a:blip r:embed="rId3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8BC9D08-B416-8B44-838F-CB8517F60350}"/>
              </a:ext>
            </a:extLst>
          </p:cNvPr>
          <p:cNvSpPr txBox="1"/>
          <p:nvPr/>
        </p:nvSpPr>
        <p:spPr>
          <a:xfrm>
            <a:off x="317585" y="1364274"/>
            <a:ext cx="5665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400" dirty="0"/>
              <a:t>The total diffraction intensity of the sample,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4913D5-EBBB-C6E4-3E77-3D5B6A869294}"/>
                  </a:ext>
                </a:extLst>
              </p:cNvPr>
              <p:cNvSpPr txBox="1"/>
              <p:nvPr/>
            </p:nvSpPr>
            <p:spPr>
              <a:xfrm>
                <a:off x="317585" y="2443856"/>
                <a:ext cx="675922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CN" sz="2400" dirty="0"/>
                  <a:t> is t</a:t>
                </a:r>
                <a:r>
                  <a:rPr lang="en-US" sz="2400" dirty="0"/>
                  <a:t>he</a:t>
                </a:r>
                <a:r>
                  <a:rPr lang="en-CN" sz="2400" dirty="0"/>
                  <a:t> effective number of atoms in the sample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4913D5-EBBB-C6E4-3E77-3D5B6A8692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85" y="2443856"/>
                <a:ext cx="6759221" cy="461665"/>
              </a:xfrm>
              <a:prstGeom prst="rect">
                <a:avLst/>
              </a:prstGeom>
              <a:blipFill>
                <a:blip r:embed="rId4"/>
                <a:stretch>
                  <a:fillRect t="-8108" b="-3243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F576B4-4F57-56AE-B6E8-D81ECF845F44}"/>
                  </a:ext>
                </a:extLst>
              </p:cNvPr>
              <p:cNvSpPr txBox="1"/>
              <p:nvPr/>
            </p:nvSpPr>
            <p:spPr>
              <a:xfrm>
                <a:off x="0" y="2836621"/>
                <a:ext cx="5729126" cy="11094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sz="2400" i="1" smtClean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i="1" smtClean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2400" i="1" smtClean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sSub>
                        <m:sSubPr>
                          <m:ctrlPr>
                            <a:rPr lang="en-CN" sz="2400" i="1">
                              <a:solidFill>
                                <a:srgbClr val="FF0000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F0000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F0000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FF0000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 sz="2400" i="1">
                                  <a:solidFill>
                                    <a:srgbClr val="FF0000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U</m:t>
                              </m:r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𝑠𝑖𝑛𝑘𝑟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𝑘𝑟</m:t>
                                  </m:r>
                                </m:den>
                              </m:f>
                            </m:e>
                          </m:nary>
                          <m:r>
                            <a:rPr lang="en-US" sz="2400" i="1">
                              <a:solidFill>
                                <a:srgbClr val="FF0000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𝑑𝑟</m:t>
                          </m:r>
                        </m:e>
                      </m:d>
                    </m:oMath>
                  </m:oMathPara>
                </a14:m>
                <a:endParaRPr lang="en-CN" sz="2400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F576B4-4F57-56AE-B6E8-D81ECF845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836621"/>
                <a:ext cx="5729126" cy="1109471"/>
              </a:xfrm>
              <a:prstGeom prst="rect">
                <a:avLst/>
              </a:prstGeom>
              <a:blipFill>
                <a:blip r:embed="rId5"/>
                <a:stretch>
                  <a:fillRect t="-129545" b="-18636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C1F9843-85F9-E231-FC59-74071E195C5A}"/>
                  </a:ext>
                </a:extLst>
              </p:cNvPr>
              <p:cNvSpPr txBox="1"/>
              <p:nvPr/>
            </p:nvSpPr>
            <p:spPr>
              <a:xfrm>
                <a:off x="465659" y="4093454"/>
                <a:ext cx="4961383" cy="1060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U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𝑠𝑖𝑛𝑘𝑟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𝑘𝑟</m:t>
                              </m:r>
                            </m:den>
                          </m:f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𝑑𝑟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sSub>
                            <m:sSubPr>
                              <m:ctrlPr>
                                <a:rPr lang="en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−1≜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C1F9843-85F9-E231-FC59-74071E195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659" y="4093454"/>
                <a:ext cx="4961383" cy="1060931"/>
              </a:xfrm>
              <a:prstGeom prst="rect">
                <a:avLst/>
              </a:prstGeom>
              <a:blipFill>
                <a:blip r:embed="rId6"/>
                <a:stretch>
                  <a:fillRect l="-21939" t="-138824" b="-19176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BC822E5-9823-09BF-93A5-8CBB02C8F880}"/>
                  </a:ext>
                </a:extLst>
              </p:cNvPr>
              <p:cNvSpPr txBox="1"/>
              <p:nvPr/>
            </p:nvSpPr>
            <p:spPr>
              <a:xfrm>
                <a:off x="66393" y="5157482"/>
                <a:ext cx="7010412" cy="1060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U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𝑠𝑖𝑛𝑘𝑟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𝑑𝑟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𝑠𝑖𝑛𝑘𝑟</m:t>
                          </m:r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𝑑𝑟</m:t>
                      </m:r>
                    </m:oMath>
                  </m:oMathPara>
                </a14:m>
                <a:endParaRPr lang="en-CN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BC822E5-9823-09BF-93A5-8CBB02C8F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3" y="5157482"/>
                <a:ext cx="7010412" cy="1060931"/>
              </a:xfrm>
              <a:prstGeom prst="rect">
                <a:avLst/>
              </a:prstGeom>
              <a:blipFill>
                <a:blip r:embed="rId7"/>
                <a:stretch>
                  <a:fillRect t="-140476" b="-19404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50D8D32-3263-B971-213C-51B4B451E2FF}"/>
                  </a:ext>
                </a:extLst>
              </p:cNvPr>
              <p:cNvSpPr txBox="1"/>
              <p:nvPr/>
            </p:nvSpPr>
            <p:spPr>
              <a:xfrm>
                <a:off x="7438162" y="1595106"/>
                <a:ext cx="4360333" cy="9852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𝑠𝑖𝑛𝑘𝑟𝑑𝑘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（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0→</m:t>
                        </m:r>
                        <m:func>
                          <m:func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inf</m:t>
                            </m:r>
                          </m:fName>
                          <m:e/>
                        </m:func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en-CN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50D8D32-3263-B971-213C-51B4B451E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8162" y="1595106"/>
                <a:ext cx="4360333" cy="985206"/>
              </a:xfrm>
              <a:prstGeom prst="rect">
                <a:avLst/>
              </a:prstGeom>
              <a:blipFill>
                <a:blip r:embed="rId8"/>
                <a:stretch>
                  <a:fillRect l="-581" t="-67089" b="-6582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31DB7DE-5A09-6552-EBED-94A54A3B0014}"/>
              </a:ext>
            </a:extLst>
          </p:cNvPr>
          <p:cNvSpPr/>
          <p:nvPr/>
        </p:nvSpPr>
        <p:spPr bwMode="auto">
          <a:xfrm>
            <a:off x="7076806" y="1467556"/>
            <a:ext cx="4797609" cy="898174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N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CB9A06A-B783-D66C-BEFB-674461553450}"/>
                  </a:ext>
                </a:extLst>
              </p:cNvPr>
              <p:cNvSpPr txBox="1"/>
              <p:nvPr/>
            </p:nvSpPr>
            <p:spPr>
              <a:xfrm>
                <a:off x="7191060" y="3027517"/>
                <a:ext cx="5983369" cy="9859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𝑠𝑖𝑛𝑘𝑟𝑑𝑘</m:t>
                        </m:r>
                      </m:e>
                    </m:nary>
                  </m:oMath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（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0→</m:t>
                    </m:r>
                    <m:func>
                      <m:func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inf</m:t>
                        </m:r>
                      </m:fName>
                      <m:e/>
                    </m:func>
                  </m:oMath>
                </a14:m>
                <a:r>
                  <a:rPr lang="en-CN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CB9A06A-B783-D66C-BEFB-6744615534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1060" y="3027517"/>
                <a:ext cx="5983369" cy="985976"/>
              </a:xfrm>
              <a:prstGeom prst="rect">
                <a:avLst/>
              </a:prstGeom>
              <a:blipFill>
                <a:blip r:embed="rId9"/>
                <a:stretch>
                  <a:fillRect l="-636" t="-67949" b="-6794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0E9567F-DFBE-4C52-B3CE-D1156D0AEBD4}"/>
              </a:ext>
            </a:extLst>
          </p:cNvPr>
          <p:cNvSpPr/>
          <p:nvPr/>
        </p:nvSpPr>
        <p:spPr bwMode="auto">
          <a:xfrm>
            <a:off x="7076805" y="3029621"/>
            <a:ext cx="4797609" cy="898174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N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0F846C3-3152-75AB-7BDA-F6754B1D0456}"/>
                  </a:ext>
                </a:extLst>
              </p:cNvPr>
              <p:cNvSpPr txBox="1"/>
              <p:nvPr/>
            </p:nvSpPr>
            <p:spPr>
              <a:xfrm>
                <a:off x="6433437" y="4803862"/>
                <a:ext cx="7010412" cy="9859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𝑠𝑖𝑛𝑘𝑟𝑑𝑘</m:t>
                        </m:r>
                      </m:e>
                    </m:nary>
                  </m:oMath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（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0+→</m:t>
                      </m:r>
                      <m:func>
                        <m:func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inf</m:t>
                          </m:r>
                        </m:fName>
                        <m:e/>
                      </m:func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0F846C3-3152-75AB-7BDA-F6754B1D0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3437" y="4803862"/>
                <a:ext cx="7010412" cy="985976"/>
              </a:xfrm>
              <a:prstGeom prst="rect">
                <a:avLst/>
              </a:prstGeom>
              <a:blipFill>
                <a:blip r:embed="rId10"/>
                <a:stretch>
                  <a:fillRect l="-181" t="-67089" b="-6582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DEE5F1C-A144-286B-E904-5D4F158D703C}"/>
              </a:ext>
            </a:extLst>
          </p:cNvPr>
          <p:cNvSpPr/>
          <p:nvPr/>
        </p:nvSpPr>
        <p:spPr bwMode="auto">
          <a:xfrm>
            <a:off x="6423642" y="4605608"/>
            <a:ext cx="5758563" cy="929052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N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5D1CB58-938F-9991-433C-8E99F9959DCC}"/>
                  </a:ext>
                </a:extLst>
              </p:cNvPr>
              <p:cNvSpPr txBox="1"/>
              <p:nvPr/>
            </p:nvSpPr>
            <p:spPr>
              <a:xfrm>
                <a:off x="6277321" y="5859579"/>
                <a:ext cx="639657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CN" sz="2400" dirty="0"/>
                  <a:t> the average atom density per unit volume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5D1CB58-938F-9991-433C-8E99F9959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7321" y="5859579"/>
                <a:ext cx="6396575" cy="461665"/>
              </a:xfrm>
              <a:prstGeom prst="rect">
                <a:avLst/>
              </a:prstGeom>
              <a:blipFill>
                <a:blip r:embed="rId11"/>
                <a:stretch>
                  <a:fillRect l="-198" t="-8108" b="-2973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127DA84-E0CB-7B9B-636B-81B4EA005FAE}"/>
              </a:ext>
            </a:extLst>
          </p:cNvPr>
          <p:cNvCxnSpPr>
            <a:cxnSpLocks/>
            <a:stCxn id="10" idx="0"/>
            <a:endCxn id="14" idx="1"/>
          </p:cNvCxnSpPr>
          <p:nvPr/>
        </p:nvCxnSpPr>
        <p:spPr bwMode="auto">
          <a:xfrm flipV="1">
            <a:off x="3571599" y="1916643"/>
            <a:ext cx="3505207" cy="324083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81E5BCD-A2A1-A9E2-8264-D01667389CAB}"/>
              </a:ext>
            </a:extLst>
          </p:cNvPr>
          <p:cNvCxnSpPr>
            <a:cxnSpLocks/>
            <a:stCxn id="10" idx="0"/>
            <a:endCxn id="19" idx="1"/>
          </p:cNvCxnSpPr>
          <p:nvPr/>
        </p:nvCxnSpPr>
        <p:spPr bwMode="auto">
          <a:xfrm flipV="1">
            <a:off x="3571599" y="3478708"/>
            <a:ext cx="3505206" cy="16787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875E5B0-15EC-137E-F974-DDB416BF0749}"/>
              </a:ext>
            </a:extLst>
          </p:cNvPr>
          <p:cNvCxnSpPr>
            <a:cxnSpLocks/>
            <a:stCxn id="10" idx="0"/>
            <a:endCxn id="20" idx="1"/>
          </p:cNvCxnSpPr>
          <p:nvPr/>
        </p:nvCxnSpPr>
        <p:spPr bwMode="auto">
          <a:xfrm>
            <a:off x="3571599" y="5157482"/>
            <a:ext cx="2861838" cy="1393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1383605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745805" y="6492875"/>
            <a:ext cx="1311275" cy="365125"/>
          </a:xfrm>
        </p:spPr>
        <p:txBody>
          <a:bodyPr/>
          <a:lstStyle/>
          <a:p>
            <a:fld id="{89DB14B3-731A-4352-BC82-B1993596BD11}" type="slidenum">
              <a:rPr lang="zh-CN" altLang="en-US" smtClean="0"/>
              <a:t>7</a:t>
            </a:fld>
            <a:endParaRPr lang="zh-CN" alt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7966D0E-B249-280E-B017-921C1EC65514}"/>
              </a:ext>
            </a:extLst>
          </p:cNvPr>
          <p:cNvCxnSpPr>
            <a:cxnSpLocks/>
          </p:cNvCxnSpPr>
          <p:nvPr/>
        </p:nvCxnSpPr>
        <p:spPr bwMode="auto">
          <a:xfrm>
            <a:off x="1185333" y="3149600"/>
            <a:ext cx="222391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B082110-0D76-ECBA-A1D4-8203876F1192}"/>
              </a:ext>
            </a:extLst>
          </p:cNvPr>
          <p:cNvCxnSpPr>
            <a:cxnSpLocks/>
          </p:cNvCxnSpPr>
          <p:nvPr/>
        </p:nvCxnSpPr>
        <p:spPr bwMode="auto">
          <a:xfrm flipV="1">
            <a:off x="1185333" y="1670756"/>
            <a:ext cx="0" cy="14788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8205C14-059D-6D75-99C0-6906C7FB286B}"/>
                  </a:ext>
                </a:extLst>
              </p:cNvPr>
              <p:cNvSpPr txBox="1"/>
              <p:nvPr/>
            </p:nvSpPr>
            <p:spPr>
              <a:xfrm>
                <a:off x="2020711" y="3244334"/>
                <a:ext cx="5983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8205C14-059D-6D75-99C0-6906C7FB2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711" y="3244334"/>
                <a:ext cx="59831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CD0D501-21E0-DA80-ACAF-C04C1542F809}"/>
                  </a:ext>
                </a:extLst>
              </p:cNvPr>
              <p:cNvSpPr txBox="1"/>
              <p:nvPr/>
            </p:nvSpPr>
            <p:spPr>
              <a:xfrm>
                <a:off x="1206179" y="1665300"/>
                <a:ext cx="5983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(2</m:t>
                      </m:r>
                      <m:r>
                        <a:rPr lang="en-US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CD0D501-21E0-DA80-ACAF-C04C1542F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179" y="1665300"/>
                <a:ext cx="598311" cy="369332"/>
              </a:xfrm>
              <a:prstGeom prst="rect">
                <a:avLst/>
              </a:prstGeom>
              <a:blipFill>
                <a:blip r:embed="rId4"/>
                <a:stretch>
                  <a:fillRect r="-25000" b="-1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CE174EF-29B5-9336-E91E-0D182FF715F7}"/>
              </a:ext>
            </a:extLst>
          </p:cNvPr>
          <p:cNvCxnSpPr>
            <a:cxnSpLocks/>
          </p:cNvCxnSpPr>
          <p:nvPr/>
        </p:nvCxnSpPr>
        <p:spPr bwMode="auto">
          <a:xfrm>
            <a:off x="5542845" y="3172178"/>
            <a:ext cx="222391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D9B93A5-0054-7019-FFEA-613FB7E56DF5}"/>
              </a:ext>
            </a:extLst>
          </p:cNvPr>
          <p:cNvCxnSpPr>
            <a:cxnSpLocks/>
          </p:cNvCxnSpPr>
          <p:nvPr/>
        </p:nvCxnSpPr>
        <p:spPr bwMode="auto">
          <a:xfrm flipV="1">
            <a:off x="5542845" y="1693334"/>
            <a:ext cx="0" cy="14788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FC87C51-FD1D-3C8C-2131-3CE9B858F526}"/>
                  </a:ext>
                </a:extLst>
              </p:cNvPr>
              <p:cNvSpPr txBox="1"/>
              <p:nvPr/>
            </p:nvSpPr>
            <p:spPr>
              <a:xfrm>
                <a:off x="6378223" y="3266912"/>
                <a:ext cx="5983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FC87C51-FD1D-3C8C-2131-3CE9B858F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8223" y="3266912"/>
                <a:ext cx="59831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E1C82B6-2724-481F-6F79-065A4A609C96}"/>
                  </a:ext>
                </a:extLst>
              </p:cNvPr>
              <p:cNvSpPr txBox="1"/>
              <p:nvPr/>
            </p:nvSpPr>
            <p:spPr>
              <a:xfrm>
                <a:off x="5522000" y="1576630"/>
                <a:ext cx="5983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E1C82B6-2724-481F-6F79-065A4A609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2000" y="1576630"/>
                <a:ext cx="598311" cy="369332"/>
              </a:xfrm>
              <a:prstGeom prst="rect">
                <a:avLst/>
              </a:prstGeom>
              <a:blipFill>
                <a:blip r:embed="rId6"/>
                <a:stretch>
                  <a:fillRect r="-4167" b="-1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D14FA0C-C40E-4307-C33A-E6411A2E0E82}"/>
                  </a:ext>
                </a:extLst>
              </p:cNvPr>
              <p:cNvSpPr txBox="1"/>
              <p:nvPr/>
            </p:nvSpPr>
            <p:spPr>
              <a:xfrm>
                <a:off x="3042364" y="1556720"/>
                <a:ext cx="1614306" cy="6117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CN" sz="1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D14FA0C-C40E-4307-C33A-E6411A2E0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64" y="1556720"/>
                <a:ext cx="1614306" cy="611771"/>
              </a:xfrm>
              <a:prstGeom prst="rect">
                <a:avLst/>
              </a:prstGeom>
              <a:blipFill>
                <a:blip r:embed="rId7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5DE9DA9-11A4-B3D8-719C-C6B13CBD5EE8}"/>
              </a:ext>
            </a:extLst>
          </p:cNvPr>
          <p:cNvCxnSpPr>
            <a:cxnSpLocks/>
          </p:cNvCxnSpPr>
          <p:nvPr/>
        </p:nvCxnSpPr>
        <p:spPr bwMode="auto">
          <a:xfrm>
            <a:off x="9742311" y="3120157"/>
            <a:ext cx="222391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FD56ACD-3195-FD7C-9F94-7F9A1239340E}"/>
              </a:ext>
            </a:extLst>
          </p:cNvPr>
          <p:cNvCxnSpPr>
            <a:cxnSpLocks/>
          </p:cNvCxnSpPr>
          <p:nvPr/>
        </p:nvCxnSpPr>
        <p:spPr bwMode="auto">
          <a:xfrm flipV="1">
            <a:off x="9742311" y="1641313"/>
            <a:ext cx="0" cy="14788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7C7444C-D4CC-9B0C-525B-8971396D1CCF}"/>
                  </a:ext>
                </a:extLst>
              </p:cNvPr>
              <p:cNvSpPr txBox="1"/>
              <p:nvPr/>
            </p:nvSpPr>
            <p:spPr>
              <a:xfrm>
                <a:off x="10577689" y="3214891"/>
                <a:ext cx="5983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7C7444C-D4CC-9B0C-525B-8971396D1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7689" y="3214891"/>
                <a:ext cx="59831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5B3D0AA-B07B-EFCC-84D3-887C3B74E71D}"/>
                  </a:ext>
                </a:extLst>
              </p:cNvPr>
              <p:cNvSpPr txBox="1"/>
              <p:nvPr/>
            </p:nvSpPr>
            <p:spPr>
              <a:xfrm>
                <a:off x="9741940" y="1575899"/>
                <a:ext cx="5983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5B3D0AA-B07B-EFCC-84D3-887C3B74E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1940" y="1575899"/>
                <a:ext cx="598311" cy="369332"/>
              </a:xfrm>
              <a:prstGeom prst="rect">
                <a:avLst/>
              </a:prstGeom>
              <a:blipFill>
                <a:blip r:embed="rId9"/>
                <a:stretch>
                  <a:fillRect r="-1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9B4982F-96C3-A25C-39C9-CFEB4DA2D355}"/>
                  </a:ext>
                </a:extLst>
              </p:cNvPr>
              <p:cNvSpPr txBox="1"/>
              <p:nvPr/>
            </p:nvSpPr>
            <p:spPr>
              <a:xfrm>
                <a:off x="6096008" y="1849966"/>
                <a:ext cx="2918173" cy="6667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sSub>
                            <m:sSubPr>
                              <m:ctrlPr>
                                <a:rPr lang="en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den>
                      </m:f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9B4982F-96C3-A25C-39C9-CFEB4DA2D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8" y="1849966"/>
                <a:ext cx="2918173" cy="66672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D9BA2F8-F887-7AD2-01B6-E255B68FC971}"/>
                  </a:ext>
                </a:extLst>
              </p:cNvPr>
              <p:cNvSpPr txBox="1"/>
              <p:nvPr/>
            </p:nvSpPr>
            <p:spPr>
              <a:xfrm>
                <a:off x="5067096" y="1204112"/>
                <a:ext cx="6096000" cy="6481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𝑐𝑜𝑠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D9BA2F8-F887-7AD2-01B6-E255B68FC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7096" y="1204112"/>
                <a:ext cx="6096000" cy="648191"/>
              </a:xfrm>
              <a:prstGeom prst="rect">
                <a:avLst/>
              </a:prstGeom>
              <a:blipFill>
                <a:blip r:embed="rId11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9EC892F-5FBF-FBCF-E859-7C027B31EB69}"/>
              </a:ext>
            </a:extLst>
          </p:cNvPr>
          <p:cNvCxnSpPr>
            <a:cxnSpLocks/>
          </p:cNvCxnSpPr>
          <p:nvPr/>
        </p:nvCxnSpPr>
        <p:spPr bwMode="auto">
          <a:xfrm>
            <a:off x="1185333" y="5778690"/>
            <a:ext cx="222391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5A1CFE9-01FA-4D78-C4BE-8BF7C038A500}"/>
              </a:ext>
            </a:extLst>
          </p:cNvPr>
          <p:cNvCxnSpPr>
            <a:cxnSpLocks/>
          </p:cNvCxnSpPr>
          <p:nvPr/>
        </p:nvCxnSpPr>
        <p:spPr bwMode="auto">
          <a:xfrm flipV="1">
            <a:off x="1185333" y="4299846"/>
            <a:ext cx="0" cy="14788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2F78538-F392-1FED-AC50-70E92ECFF913}"/>
                  </a:ext>
                </a:extLst>
              </p:cNvPr>
              <p:cNvSpPr txBox="1"/>
              <p:nvPr/>
            </p:nvSpPr>
            <p:spPr>
              <a:xfrm>
                <a:off x="2020711" y="5873424"/>
                <a:ext cx="5983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2F78538-F392-1FED-AC50-70E92ECFF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711" y="5873424"/>
                <a:ext cx="59831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3BA43F3-CDF3-88BB-6B69-2CD538C100DF}"/>
                  </a:ext>
                </a:extLst>
              </p:cNvPr>
              <p:cNvSpPr txBox="1"/>
              <p:nvPr/>
            </p:nvSpPr>
            <p:spPr>
              <a:xfrm>
                <a:off x="1185333" y="4199656"/>
                <a:ext cx="138853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𝑠𝑖𝑛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𝑘𝑟</m:t>
                      </m:r>
                    </m:oMath>
                  </m:oMathPara>
                </a14:m>
                <a:endParaRPr lang="en-CN" dirty="0"/>
              </a:p>
              <a:p>
                <a:endParaRPr lang="en-CN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3BA43F3-CDF3-88BB-6B69-2CD538C10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333" y="4199656"/>
                <a:ext cx="1388530" cy="64633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E931F95-B610-0AEB-F5D6-46D8D07D7827}"/>
                  </a:ext>
                </a:extLst>
              </p:cNvPr>
              <p:cNvSpPr txBox="1"/>
              <p:nvPr/>
            </p:nvSpPr>
            <p:spPr>
              <a:xfrm>
                <a:off x="3077028" y="3888444"/>
                <a:ext cx="4206146" cy="1257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For any given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CN" sz="2400" dirty="0"/>
              </a:p>
              <a:p>
                <a:r>
                  <a:rPr lang="en-US" sz="2400" dirty="0"/>
                  <a:t>T</a:t>
                </a:r>
                <a:r>
                  <a:rPr lang="en-CN" sz="2400" dirty="0"/>
                  <a:t>erm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𝑠𝑖𝑛𝑘𝑟𝑑𝑘</m:t>
                        </m:r>
                      </m:e>
                    </m:nary>
                  </m:oMath>
                </a14:m>
                <a:r>
                  <a:rPr lang="en-CN" sz="2400" dirty="0"/>
                  <a:t>  is the integration of left curve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E931F95-B610-0AEB-F5D6-46D8D07D7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7028" y="3888444"/>
                <a:ext cx="4206146" cy="1257332"/>
              </a:xfrm>
              <a:prstGeom prst="rect">
                <a:avLst/>
              </a:prstGeom>
              <a:blipFill>
                <a:blip r:embed="rId14"/>
                <a:stretch>
                  <a:fillRect l="-2410" t="-30000" b="-54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14C3DEE-3313-0D88-A84B-C62C652D5106}"/>
              </a:ext>
            </a:extLst>
          </p:cNvPr>
          <p:cNvCxnSpPr>
            <a:cxnSpLocks/>
          </p:cNvCxnSpPr>
          <p:nvPr/>
        </p:nvCxnSpPr>
        <p:spPr bwMode="auto">
          <a:xfrm>
            <a:off x="9335911" y="5564744"/>
            <a:ext cx="222391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AB1791B-7930-646E-792D-55B4C6B943DA}"/>
              </a:ext>
            </a:extLst>
          </p:cNvPr>
          <p:cNvCxnSpPr>
            <a:cxnSpLocks/>
          </p:cNvCxnSpPr>
          <p:nvPr/>
        </p:nvCxnSpPr>
        <p:spPr bwMode="auto">
          <a:xfrm flipV="1">
            <a:off x="9335911" y="4085900"/>
            <a:ext cx="0" cy="14788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1A7A647-2B7E-D7DD-B771-A7B2AD197C1A}"/>
                  </a:ext>
                </a:extLst>
              </p:cNvPr>
              <p:cNvSpPr txBox="1"/>
              <p:nvPr/>
            </p:nvSpPr>
            <p:spPr>
              <a:xfrm>
                <a:off x="10171289" y="5659478"/>
                <a:ext cx="5983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1A7A647-2B7E-D7DD-B771-A7B2AD197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289" y="5659478"/>
                <a:ext cx="598311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5480D83-5887-5178-10CE-0042254DF550}"/>
                  </a:ext>
                </a:extLst>
              </p:cNvPr>
              <p:cNvSpPr txBox="1"/>
              <p:nvPr/>
            </p:nvSpPr>
            <p:spPr>
              <a:xfrm>
                <a:off x="9114973" y="4048287"/>
                <a:ext cx="15707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5480D83-5887-5178-10CE-0042254DF5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4973" y="4048287"/>
                <a:ext cx="1570765" cy="369332"/>
              </a:xfrm>
              <a:prstGeom prst="rect">
                <a:avLst/>
              </a:prstGeom>
              <a:blipFill>
                <a:blip r:embed="rId1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ight Arrow 39">
            <a:extLst>
              <a:ext uri="{FF2B5EF4-FFF2-40B4-BE49-F238E27FC236}">
                <a16:creationId xmlns:a16="http://schemas.microsoft.com/office/drawing/2014/main" id="{EC9D1AE4-0EE5-30CF-EBDF-AD99F8FCAE66}"/>
              </a:ext>
            </a:extLst>
          </p:cNvPr>
          <p:cNvSpPr/>
          <p:nvPr/>
        </p:nvSpPr>
        <p:spPr bwMode="auto">
          <a:xfrm>
            <a:off x="3109479" y="2466663"/>
            <a:ext cx="1615296" cy="12790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N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D768FE56-0CFA-8A47-2576-3437F1B87507}"/>
              </a:ext>
            </a:extLst>
          </p:cNvPr>
          <p:cNvSpPr/>
          <p:nvPr/>
        </p:nvSpPr>
        <p:spPr bwMode="auto">
          <a:xfrm>
            <a:off x="7618338" y="2509121"/>
            <a:ext cx="1615296" cy="12790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N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3A5E03F8-A278-03DD-0488-92CDD1163085}"/>
              </a:ext>
            </a:extLst>
          </p:cNvPr>
          <p:cNvSpPr/>
          <p:nvPr/>
        </p:nvSpPr>
        <p:spPr bwMode="auto">
          <a:xfrm>
            <a:off x="6677378" y="4958751"/>
            <a:ext cx="1615296" cy="12790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N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AA31580-5F4E-2662-0AA5-A1A48AD808C2}"/>
                  </a:ext>
                </a:extLst>
              </p:cNvPr>
              <p:cNvSpPr txBox="1"/>
              <p:nvPr/>
            </p:nvSpPr>
            <p:spPr>
              <a:xfrm>
                <a:off x="4382117" y="5473745"/>
                <a:ext cx="6097656" cy="6258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N" sz="240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N" sz="240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𝑠𝑖𝑛𝑘𝑟𝑑𝑘</m:t>
                        </m:r>
                      </m:e>
                    </m:nary>
                  </m:oMath>
                </a14:m>
                <a:endParaRPr lang="en-CN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AA31580-5F4E-2662-0AA5-A1A48AD80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2117" y="5473745"/>
                <a:ext cx="6097656" cy="625812"/>
              </a:xfrm>
              <a:prstGeom prst="rect">
                <a:avLst/>
              </a:prstGeom>
              <a:blipFill>
                <a:blip r:embed="rId17"/>
                <a:stretch>
                  <a:fillRect l="-208" t="-106000" b="-162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985C6B22-4764-243F-D31B-4F0913922B47}"/>
              </a:ext>
            </a:extLst>
          </p:cNvPr>
          <p:cNvSpPr txBox="1"/>
          <p:nvPr/>
        </p:nvSpPr>
        <p:spPr>
          <a:xfrm>
            <a:off x="9900355" y="4845987"/>
            <a:ext cx="1377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f</a:t>
            </a:r>
            <a:r>
              <a:rPr lang="en-CN" dirty="0">
                <a:solidFill>
                  <a:schemeClr val="accent2"/>
                </a:solidFill>
              </a:rPr>
              <a:t>inal pattern</a:t>
            </a:r>
          </a:p>
        </p:txBody>
      </p:sp>
    </p:spTree>
    <p:extLst>
      <p:ext uri="{BB962C8B-B14F-4D97-AF65-F5344CB8AC3E}">
        <p14:creationId xmlns:p14="http://schemas.microsoft.com/office/powerpoint/2010/main" val="2568390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745805" y="6492875"/>
            <a:ext cx="1311275" cy="365125"/>
          </a:xfrm>
        </p:spPr>
        <p:txBody>
          <a:bodyPr/>
          <a:lstStyle/>
          <a:p>
            <a:fld id="{89DB14B3-731A-4352-BC82-B1993596BD11}" type="slidenum">
              <a:rPr lang="zh-CN" altLang="en-US" smtClean="0"/>
              <a:t>8</a:t>
            </a:fld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AC74C6-C1A3-9328-1F3E-D07C2CE256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862" y="1640801"/>
            <a:ext cx="4077606" cy="4398754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FDF3518-E9A2-94C3-3C29-C2AAD481D0DF}"/>
              </a:ext>
            </a:extLst>
          </p:cNvPr>
          <p:cNvCxnSpPr>
            <a:cxnSpLocks/>
          </p:cNvCxnSpPr>
          <p:nvPr/>
        </p:nvCxnSpPr>
        <p:spPr bwMode="auto">
          <a:xfrm flipH="1">
            <a:off x="1964267" y="4775200"/>
            <a:ext cx="248355" cy="5983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7FF4F0-AAE9-0835-130C-CA736566764B}"/>
              </a:ext>
            </a:extLst>
          </p:cNvPr>
          <p:cNvCxnSpPr>
            <a:cxnSpLocks/>
          </p:cNvCxnSpPr>
          <p:nvPr/>
        </p:nvCxnSpPr>
        <p:spPr bwMode="auto">
          <a:xfrm flipH="1">
            <a:off x="2088444" y="5019643"/>
            <a:ext cx="248355" cy="50995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F5B2B84-2188-93FA-298C-1F56FA136BA5}"/>
              </a:ext>
            </a:extLst>
          </p:cNvPr>
          <p:cNvCxnSpPr>
            <a:cxnSpLocks/>
          </p:cNvCxnSpPr>
          <p:nvPr/>
        </p:nvCxnSpPr>
        <p:spPr bwMode="auto">
          <a:xfrm flipH="1">
            <a:off x="1964267" y="4931288"/>
            <a:ext cx="310443" cy="5983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EB1C5C6-6D25-5908-DE7C-F3C8D9B8F372}"/>
              </a:ext>
            </a:extLst>
          </p:cNvPr>
          <p:cNvSpPr txBox="1"/>
          <p:nvPr/>
        </p:nvSpPr>
        <p:spPr>
          <a:xfrm>
            <a:off x="4758468" y="2828835"/>
            <a:ext cx="75715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</a:t>
            </a:r>
            <a:r>
              <a:rPr lang="en-CN" sz="2400" dirty="0"/>
              <a:t>ntegral area , </a:t>
            </a:r>
            <a:r>
              <a:rPr lang="en-CN" sz="2400" dirty="0">
                <a:solidFill>
                  <a:schemeClr val="accent2"/>
                </a:solidFill>
              </a:rPr>
              <a:t>A</a:t>
            </a:r>
            <a:r>
              <a:rPr lang="en-US" sz="2400" dirty="0"/>
              <a:t>,</a:t>
            </a:r>
            <a:r>
              <a:rPr lang="en-CN" sz="2400" dirty="0"/>
              <a:t> </a:t>
            </a:r>
            <a:r>
              <a:rPr lang="en-US" sz="2400" dirty="0"/>
              <a:t>represents</a:t>
            </a:r>
            <a:r>
              <a:rPr lang="zh-CN" altLang="en-US" sz="2400" dirty="0"/>
              <a:t> </a:t>
            </a:r>
            <a:r>
              <a:rPr lang="en-US" sz="2400" b="0" i="0" u="none" strike="noStrike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coordination number</a:t>
            </a:r>
          </a:p>
          <a:p>
            <a:endParaRPr lang="en-US" sz="2400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r>
              <a:rPr lang="en-US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Peaks distance, </a:t>
            </a:r>
            <a:r>
              <a:rPr lang="en-US" sz="2400" dirty="0">
                <a:solidFill>
                  <a:schemeClr val="accent2"/>
                </a:solidFill>
                <a:latin typeface="Helvetica Neue" panose="02000503000000020004" pitchFamily="2" charset="0"/>
              </a:rPr>
              <a:t>d</a:t>
            </a:r>
            <a:r>
              <a:rPr lang="en-US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, </a:t>
            </a:r>
            <a:r>
              <a:rPr lang="en-US" sz="2400" dirty="0"/>
              <a:t>represents</a:t>
            </a:r>
            <a:r>
              <a:rPr lang="zh-CN" altLang="en-US" sz="2400" dirty="0"/>
              <a:t> </a:t>
            </a:r>
            <a:r>
              <a:rPr lang="en-US" sz="2400" b="0" i="0" u="none" strike="noStrike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average atomic distance</a:t>
            </a:r>
            <a:endParaRPr lang="en-CN" sz="24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FEEE9D6-0E11-7518-68B4-21562675A3DF}"/>
              </a:ext>
            </a:extLst>
          </p:cNvPr>
          <p:cNvCxnSpPr/>
          <p:nvPr/>
        </p:nvCxnSpPr>
        <p:spPr bwMode="auto">
          <a:xfrm>
            <a:off x="2119488" y="4775200"/>
            <a:ext cx="70273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40FFD22-AA27-A90D-D642-E4527A2DDF08}"/>
              </a:ext>
            </a:extLst>
          </p:cNvPr>
          <p:cNvSpPr txBox="1"/>
          <p:nvPr/>
        </p:nvSpPr>
        <p:spPr>
          <a:xfrm>
            <a:off x="2262464" y="4405868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dirty="0">
                <a:solidFill>
                  <a:schemeClr val="accent2"/>
                </a:solidFill>
              </a:rPr>
              <a:t>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7A0B18-1E42-C783-AF15-9CCB7292B509}"/>
              </a:ext>
            </a:extLst>
          </p:cNvPr>
          <p:cNvSpPr txBox="1"/>
          <p:nvPr/>
        </p:nvSpPr>
        <p:spPr>
          <a:xfrm>
            <a:off x="1999261" y="5019642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dirty="0">
                <a:solidFill>
                  <a:schemeClr val="accent2"/>
                </a:solidFill>
              </a:rPr>
              <a:t>A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B3E5D58-A692-2E9E-98B3-359B4B6A14E5}"/>
              </a:ext>
            </a:extLst>
          </p:cNvPr>
          <p:cNvCxnSpPr>
            <a:cxnSpLocks/>
          </p:cNvCxnSpPr>
          <p:nvPr/>
        </p:nvCxnSpPr>
        <p:spPr bwMode="auto">
          <a:xfrm flipH="1">
            <a:off x="2212621" y="5253128"/>
            <a:ext cx="152025" cy="27647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251362993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B4DA2"/>
      </a:dk2>
      <a:lt2>
        <a:srgbClr val="EEECE1"/>
      </a:lt2>
      <a:accent1>
        <a:srgbClr val="0B4DA2"/>
      </a:accent1>
      <a:accent2>
        <a:srgbClr val="AE1831"/>
      </a:accent2>
      <a:accent3>
        <a:srgbClr val="FFFFFF"/>
      </a:accent3>
      <a:accent4>
        <a:srgbClr val="000000"/>
      </a:accent4>
      <a:accent5>
        <a:srgbClr val="AAB2CE"/>
      </a:accent5>
      <a:accent6>
        <a:srgbClr val="9D152B"/>
      </a:accent6>
      <a:hlink>
        <a:srgbClr val="0000FF"/>
      </a:hlink>
      <a:folHlink>
        <a:srgbClr val="800080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Calibri" panose="020F0502020204030204" pitchFamily="34" charset="0"/>
            <a:ea typeface="宋体" panose="02010600030101010101" pitchFamily="2" charset="-122"/>
            <a:sym typeface="Calibri" panose="020F050202020403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Calibri" panose="020F0502020204030204" pitchFamily="34" charset="0"/>
            <a:ea typeface="宋体" panose="02010600030101010101" pitchFamily="2" charset="-122"/>
            <a:sym typeface="Calibri" panose="020F0502020204030204" pitchFamily="34" charset="0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B4DA2"/>
        </a:dk2>
        <a:lt2>
          <a:srgbClr val="EEECE1"/>
        </a:lt2>
        <a:accent1>
          <a:srgbClr val="0B4DA2"/>
        </a:accent1>
        <a:accent2>
          <a:srgbClr val="AE1831"/>
        </a:accent2>
        <a:accent3>
          <a:srgbClr val="FFFFFF"/>
        </a:accent3>
        <a:accent4>
          <a:srgbClr val="000000"/>
        </a:accent4>
        <a:accent5>
          <a:srgbClr val="AAB2CE"/>
        </a:accent5>
        <a:accent6>
          <a:srgbClr val="9D152B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B4DA2"/>
      </a:dk2>
      <a:lt2>
        <a:srgbClr val="EEECE1"/>
      </a:lt2>
      <a:accent1>
        <a:srgbClr val="0B4DA2"/>
      </a:accent1>
      <a:accent2>
        <a:srgbClr val="AE1831"/>
      </a:accent2>
      <a:accent3>
        <a:srgbClr val="FFFFFF"/>
      </a:accent3>
      <a:accent4>
        <a:srgbClr val="000000"/>
      </a:accent4>
      <a:accent5>
        <a:srgbClr val="AAB2CE"/>
      </a:accent5>
      <a:accent6>
        <a:srgbClr val="9D152B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18751</TotalTime>
  <Words>495</Words>
  <Application>Microsoft Macintosh PowerPoint</Application>
  <PresentationFormat>Widescreen</PresentationFormat>
  <Paragraphs>118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华文中宋</vt:lpstr>
      <vt:lpstr>Calibri</vt:lpstr>
      <vt:lpstr>Calibri Light</vt:lpstr>
      <vt:lpstr>Cambria Math</vt:lpstr>
      <vt:lpstr>Helvetica Neue</vt:lpstr>
      <vt:lpstr>Times New Roman</vt:lpstr>
      <vt:lpstr>默认设计模板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沈小丹</dc:creator>
  <cp:lastModifiedBy>Bin Cao</cp:lastModifiedBy>
  <cp:revision>1534</cp:revision>
  <cp:lastPrinted>2019-10-09T12:50:00Z</cp:lastPrinted>
  <dcterms:created xsi:type="dcterms:W3CDTF">2013-12-03T13:35:00Z</dcterms:created>
  <dcterms:modified xsi:type="dcterms:W3CDTF">2026-06-10T03:49:09Z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RubyTemplateID">
    <vt:lpwstr>2</vt:lpwstr>
  </property>
  <property fmtid="{D5CDD505-2E9C-101B-9397-08002B2CF9AE}" pid="3" name="KSOProductBuildVer">
    <vt:lpwstr>2052-11.1.0.9022</vt:lpwstr>
  </property>
</Properties>
</file>