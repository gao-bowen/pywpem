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315" r:id="rId2"/>
    <p:sldId id="316" r:id="rId3"/>
    <p:sldId id="355" r:id="rId4"/>
    <p:sldId id="343" r:id="rId5"/>
    <p:sldId id="347" r:id="rId6"/>
    <p:sldId id="349" r:id="rId7"/>
    <p:sldId id="350" r:id="rId8"/>
    <p:sldId id="351" r:id="rId9"/>
    <p:sldId id="352" r:id="rId10"/>
    <p:sldId id="353" r:id="rId11"/>
    <p:sldId id="354" r:id="rId12"/>
    <p:sldId id="25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ftan" initials="r" lastIdx="10" clrIdx="0">
    <p:extLst>
      <p:ext uri="{19B8F6BF-5375-455C-9EA6-DF929625EA0E}">
        <p15:presenceInfo xmlns:p15="http://schemas.microsoft.com/office/powerpoint/2012/main" userId="rftan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088" autoAdjust="0"/>
    <p:restoredTop sz="94936"/>
  </p:normalViewPr>
  <p:slideViewPr>
    <p:cSldViewPr snapToGrid="0">
      <p:cViewPr varScale="1">
        <p:scale>
          <a:sx n="101" d="100"/>
          <a:sy n="101" d="100"/>
        </p:scale>
        <p:origin x="138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25" d="100"/>
          <a:sy n="125" d="100"/>
        </p:scale>
        <p:origin x="4928" y="6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A715C4-EAEC-450A-9676-0A2D32157AB7}" type="datetimeFigureOut">
              <a:rPr lang="en-US" smtClean="0"/>
              <a:t>6/10/26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E23F8D-AB11-45F4-BB96-A42F67B54E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0374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821321-C426-47EA-B7EB-3834CC67774D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E23F8D-AB11-45F4-BB96-A42F67B54EA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14264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E23F8D-AB11-45F4-BB96-A42F67B54EA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34683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E23F8D-AB11-45F4-BB96-A42F67B54EA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84955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E23F8D-AB11-45F4-BB96-A42F67B54EA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50040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E23F8D-AB11-45F4-BB96-A42F67B54EA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25633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E23F8D-AB11-45F4-BB96-A42F67B54EA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50615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E23F8D-AB11-45F4-BB96-A42F67B54EA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8503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E23F8D-AB11-45F4-BB96-A42F67B54EA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885184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E23F8D-AB11-45F4-BB96-A42F67B54EA3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9602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950B69-DE06-1BB4-729D-E2B1C23532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F61E8D-CC15-DC63-BFBF-0F85A73982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089AA2-C2FF-D9C3-C625-C9FF24E11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9DC6501-B231-4DAF-B114-8DE8488053FE}" type="datetime1">
              <a:rPr lang="en-US" smtClean="0"/>
              <a:pPr/>
              <a:t>6/10/26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2660BF-FFCE-700A-212E-B71575753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5ACF320-16D0-A12F-4BB6-932CD1DBFF39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6" y="6016171"/>
            <a:ext cx="12191994" cy="841829"/>
            <a:chOff x="0" y="6226628"/>
            <a:chExt cx="9143999" cy="631372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6ABA0475-D4B5-A479-0D0C-8A53F27040AF}"/>
                </a:ext>
              </a:extLst>
            </p:cNvPr>
            <p:cNvSpPr>
              <a:spLocks noChangeAspect="1"/>
            </p:cNvSpPr>
            <p:nvPr userDrawn="1"/>
          </p:nvSpPr>
          <p:spPr>
            <a:xfrm flipV="1">
              <a:off x="0" y="6226628"/>
              <a:ext cx="9143999" cy="631372"/>
            </a:xfrm>
            <a:prstGeom prst="rect">
              <a:avLst/>
            </a:prstGeom>
            <a:solidFill>
              <a:srgbClr val="003366"/>
            </a:solidFill>
            <a:ln>
              <a:noFill/>
            </a:ln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/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>
              <a:lvl1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kern="1200">
                <a:latin typeface="Muli"/>
              </a:endParaRPr>
            </a:p>
          </p:txBody>
        </p:sp>
        <p:pic>
          <p:nvPicPr>
            <p:cNvPr id="9" name="图片 4" descr="文本&#10;&#10;描述已自动生成">
              <a:extLst>
                <a:ext uri="{FF2B5EF4-FFF2-40B4-BE49-F238E27FC236}">
                  <a16:creationId xmlns:a16="http://schemas.microsoft.com/office/drawing/2014/main" id="{67A8D708-492F-2E93-3A19-57438CF7938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9400" y="6341447"/>
              <a:ext cx="1412279" cy="37251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542210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A5DAA-DE4A-E2E1-C327-F34DBEF55D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A9466D-8DF5-A85C-18D4-1A8FFD4E39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4F1AE0-9CEE-C4A1-8BFF-19F1464AF7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DA51D44E-528D-4094-AAFB-1EB2102B270E}" type="datetime1">
              <a:rPr lang="en-US" smtClean="0"/>
              <a:pPr/>
              <a:t>6/10/26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5F30B7-0B61-9990-A2AC-E343042585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3048FE-F563-D79D-AC41-5463F7965D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>
            <a:lvl1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8598AB80-6D0E-4B54-91C4-8C18595543F0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197F105-20F9-0238-1D89-C621BB07EE03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0" y="5778000"/>
            <a:ext cx="1080000" cy="1080000"/>
            <a:chOff x="5491" y="4185101"/>
            <a:chExt cx="974571" cy="974571"/>
          </a:xfrm>
        </p:grpSpPr>
        <p:sp>
          <p:nvSpPr>
            <p:cNvPr id="9" name="Right Triangle 8">
              <a:extLst>
                <a:ext uri="{FF2B5EF4-FFF2-40B4-BE49-F238E27FC236}">
                  <a16:creationId xmlns:a16="http://schemas.microsoft.com/office/drawing/2014/main" id="{84A3F0BC-3F32-50BF-BE4D-01E05B41F948}"/>
                </a:ext>
              </a:extLst>
            </p:cNvPr>
            <p:cNvSpPr/>
            <p:nvPr/>
          </p:nvSpPr>
          <p:spPr>
            <a:xfrm>
              <a:off x="5491" y="4185101"/>
              <a:ext cx="974571" cy="974571"/>
            </a:xfrm>
            <a:prstGeom prst="rtTriangle">
              <a:avLst/>
            </a:prstGeom>
            <a:solidFill>
              <a:srgbClr val="053A6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10" name="Picture 9" descr="UST_L4_white.eps">
              <a:extLst>
                <a:ext uri="{FF2B5EF4-FFF2-40B4-BE49-F238E27FC236}">
                  <a16:creationId xmlns:a16="http://schemas.microsoft.com/office/drawing/2014/main" id="{255179F3-570F-4591-08F8-45369FC03FD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r="76298"/>
            <a:stretch/>
          </p:blipFill>
          <p:spPr>
            <a:xfrm>
              <a:off x="199585" y="4693906"/>
              <a:ext cx="224324" cy="30268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35742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F73907CB-8704-B141-87A9-9F4D259109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51897" y="2474873"/>
            <a:ext cx="5027897" cy="586153"/>
          </a:xfrm>
          <a:prstGeom prst="rect">
            <a:avLst/>
          </a:prstGeom>
        </p:spPr>
        <p:txBody>
          <a:bodyPr/>
          <a:lstStyle>
            <a:lvl1pPr algn="l">
              <a:defRPr sz="2667">
                <a:solidFill>
                  <a:schemeClr val="bg1"/>
                </a:solidFill>
                <a:latin typeface="Muli"/>
                <a:cs typeface="Muli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74CCA59C-2B24-5740-B055-A81D5E23B2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51897" y="3130714"/>
            <a:ext cx="5027897" cy="659748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67">
                <a:solidFill>
                  <a:srgbClr val="FFFFFF"/>
                </a:solidFill>
                <a:latin typeface="Muli Light"/>
                <a:cs typeface="Muli Light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2540291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010556-8E59-6951-28CE-17DAEF884D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FEC743-F072-C372-087B-AA5A4A3D3C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DE0E31-A144-3ED7-1342-0DD1C8E67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1A39F8-6B12-43DF-8DFB-6C52074F2558}" type="datetime1">
              <a:rPr lang="en-US" smtClean="0"/>
              <a:t>6/10/26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1114D4-B39B-17E0-37F1-AD715A4E96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335236-AA68-1013-E618-22CEEA212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8AB80-6D0E-4B54-91C4-8C18595543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6388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B92368-BB45-42ED-F5A7-36161CF989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908DA9-70BC-F980-2D6F-E606848077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B1C06B-0C7B-F1BE-7B71-7C6920A6E9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D8212A-DB66-7323-BDCE-CE9628EC8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D4AF1-0AAF-4EF0-B251-AAB9FE836FF1}" type="datetime1">
              <a:rPr lang="en-US" smtClean="0"/>
              <a:t>6/10/26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B164FA-D961-8D6A-A932-C53C77D6BE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59BC29-F611-E8E6-19CD-90BCD261D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8AB80-6D0E-4B54-91C4-8C18595543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9432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274C14-6826-CDA4-D967-1EAA26C787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DDC618-6F01-D2F1-0400-71516E6248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FE4825-2BD3-11DB-A131-051934D37F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4F97F9-D278-B4E9-3143-77E4A6335F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81BDB61-AC1F-4774-0E41-3BEF84147A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E090D2-CBC2-F169-4798-3F89BBDDC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E96D9-4A0A-4A9C-BD02-8D93FE1FD85C}" type="datetime1">
              <a:rPr lang="en-US" smtClean="0"/>
              <a:t>6/10/26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35B375B-3425-3FC4-E865-D952688C23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35EE343-6C19-0FA6-59DA-B99BCDE3B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8AB80-6D0E-4B54-91C4-8C18595543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93974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1BA562-EE11-ABC6-0182-606827143A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31B6654-F65F-AB43-E38A-9894A36C96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29B2B-198E-4F66-B169-13186C365B9E}" type="datetime1">
              <a:rPr lang="en-US" smtClean="0"/>
              <a:t>6/10/26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1E2AA5-B2B4-CC52-FDBB-FD118194BE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342D90-3791-DC50-9783-F88ADA029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8AB80-6D0E-4B54-91C4-8C18595543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73935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230A01D-D0BA-5FDC-243D-188685D4FC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255F4-BD4C-41D4-B8E1-0B53CB576B50}" type="datetime1">
              <a:rPr lang="en-US" smtClean="0"/>
              <a:t>6/10/26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AE5A3D0-7999-61D8-EC8A-58D473284A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FC1149-2EEE-5217-A165-0ECFB21E2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8AB80-6D0E-4B54-91C4-8C18595543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1692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7191A8-2B67-FABB-DBEC-7106C2D927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CFAAB0-6F34-8606-56C5-0AEEEB339F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2EA0E4-59E0-9B14-21C2-D2DD224B0E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769377-E2BA-A217-2531-B05BE6D207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F00DD-FE1F-46A3-BB0D-079FC5C6500D}" type="datetime1">
              <a:rPr lang="en-US" smtClean="0"/>
              <a:t>6/10/26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7E865B-5A2D-C4F6-83C5-1D53E46AE9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0B8A8F-AB45-B26C-7718-3C3960C66D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8AB80-6D0E-4B54-91C4-8C18595543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59996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119215-1513-636B-17E5-8799F5919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D4A5472-D00A-966C-44AF-98B8C0E653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631FAB-4BD8-3E32-4A97-E2C649BD53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5EF685-D7E2-47D1-A992-3D874135A6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881CF-47D2-4A24-97C1-8CB4D432C393}" type="datetime1">
              <a:rPr lang="en-US" smtClean="0"/>
              <a:t>6/10/26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20068C-4802-80F1-D911-E746EB456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20A24D-DAE9-29CF-9C5B-74847DC4C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8AB80-6D0E-4B54-91C4-8C18595543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98861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13A5D9-FF32-4CFA-C4E1-267F3B66A8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FBE62E-2B47-671B-6D50-BAFB4C5709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CC162F-CB36-191F-CEC4-2389F145E0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1652E-338D-46ED-ABD4-EEB240E54E1F}" type="datetime1">
              <a:rPr lang="en-US" smtClean="0"/>
              <a:t>6/10/26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C72E20-4526-999E-27E2-388773A98F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E003C5-E63C-B3AF-A43C-4B4C243F9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8AB80-6D0E-4B54-91C4-8C18595543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84753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B5C40A7-018C-75BE-ACF8-606DCA301F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4838E8-4F2D-384B-627C-F7A4426F25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237138-6413-F900-6511-86BBC72AB3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05ED8-F61A-4CEC-860E-FBEF388F4109}" type="datetime1">
              <a:rPr lang="en-US" smtClean="0"/>
              <a:t>6/10/26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FD0A4A-D6A2-2C79-DFA4-82D5289F1E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BCA141-C629-04B1-6554-8A5B0A158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8AB80-6D0E-4B54-91C4-8C18595543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83187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AAE4CFB-1839-C268-6D73-E4B157FC61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531B47-F521-C529-6166-35EBDD00BA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C7AC27-F1B0-4B4C-01B9-6B1F09F7FA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DC13C3-9087-40F2-9CED-F91821E5C9BA}" type="datetime1">
              <a:rPr lang="en-US" smtClean="0"/>
              <a:t>6/10/26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52DF0B-01B2-5515-1250-B08F458DD2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B451A0-633D-E5B5-511B-583A058FDB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98AB80-6D0E-4B54-91C4-8C18595543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45852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github.com/Bin-Cao" TargetMode="External"/><Relationship Id="rId4" Type="http://schemas.openxmlformats.org/officeDocument/2006/relationships/hyperlink" Target="mailto:binjacobcao@gmail.com" TargetMode="Externa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4.gif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g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7" Type="http://schemas.openxmlformats.org/officeDocument/2006/relationships/image" Target="../media/image23.gi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170.png"/><Relationship Id="rId4" Type="http://schemas.openxmlformats.org/officeDocument/2006/relationships/image" Target="../media/image16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gi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0.png"/><Relationship Id="rId13" Type="http://schemas.openxmlformats.org/officeDocument/2006/relationships/image" Target="../media/image33.png"/><Relationship Id="rId18" Type="http://schemas.openxmlformats.org/officeDocument/2006/relationships/image" Target="../media/image38.png"/><Relationship Id="rId3" Type="http://schemas.openxmlformats.org/officeDocument/2006/relationships/image" Target="../media/image28.png"/><Relationship Id="rId7" Type="http://schemas.openxmlformats.org/officeDocument/2006/relationships/image" Target="../media/image270.png"/><Relationship Id="rId12" Type="http://schemas.openxmlformats.org/officeDocument/2006/relationships/image" Target="../media/image32.png"/><Relationship Id="rId17" Type="http://schemas.openxmlformats.org/officeDocument/2006/relationships/image" Target="../media/image37.png"/><Relationship Id="rId2" Type="http://schemas.openxmlformats.org/officeDocument/2006/relationships/image" Target="../media/image27.gif"/><Relationship Id="rId16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0.png"/><Relationship Id="rId11" Type="http://schemas.openxmlformats.org/officeDocument/2006/relationships/image" Target="../media/image31.png"/><Relationship Id="rId5" Type="http://schemas.openxmlformats.org/officeDocument/2006/relationships/image" Target="../media/image250.png"/><Relationship Id="rId15" Type="http://schemas.openxmlformats.org/officeDocument/2006/relationships/image" Target="../media/image35.png"/><Relationship Id="rId10" Type="http://schemas.openxmlformats.org/officeDocument/2006/relationships/image" Target="../media/image30.png"/><Relationship Id="rId4" Type="http://schemas.openxmlformats.org/officeDocument/2006/relationships/image" Target="../media/image240.png"/><Relationship Id="rId9" Type="http://schemas.openxmlformats.org/officeDocument/2006/relationships/image" Target="../media/image290.png"/><Relationship Id="rId14" Type="http://schemas.openxmlformats.org/officeDocument/2006/relationships/image" Target="../media/image3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7686079" y="4257738"/>
            <a:ext cx="4505921" cy="1256458"/>
          </a:xfrm>
        </p:spPr>
        <p:txBody>
          <a:bodyPr>
            <a:normAutofit/>
          </a:bodyPr>
          <a:lstStyle/>
          <a:p>
            <a:pPr algn="l"/>
            <a:r>
              <a:rPr lang="en-US" altLang="zh-CN" sz="2000" b="1" dirty="0">
                <a:solidFill>
                  <a:schemeClr val="accent1">
                    <a:lumMod val="50000"/>
                  </a:schemeClr>
                </a:solidFill>
              </a:rPr>
              <a:t>Presented by Bin CAO</a:t>
            </a:r>
            <a:r>
              <a:rPr lang="zh-CN" altLang="en-US" sz="2000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endParaRPr lang="en-US" altLang="zh-CN" sz="2000" b="1" dirty="0">
              <a:solidFill>
                <a:schemeClr val="accent1">
                  <a:lumMod val="50000"/>
                </a:schemeClr>
              </a:solidFill>
            </a:endParaRPr>
          </a:p>
          <a:p>
            <a:pPr algn="l"/>
            <a:r>
              <a:rPr lang="en-US" altLang="zh-CN" sz="2000" b="1" dirty="0">
                <a:solidFill>
                  <a:schemeClr val="accent1">
                    <a:lumMod val="50000"/>
                  </a:schemeClr>
                </a:solidFill>
              </a:rPr>
              <a:t>Supervisor : Prof. ZHANG </a:t>
            </a:r>
            <a:r>
              <a:rPr lang="en-US" altLang="zh-CN" sz="2000" b="1" dirty="0" err="1">
                <a:solidFill>
                  <a:schemeClr val="accent1">
                    <a:lumMod val="50000"/>
                  </a:schemeClr>
                </a:solidFill>
              </a:rPr>
              <a:t>TongYi</a:t>
            </a:r>
            <a:endParaRPr lang="en-US" altLang="zh-CN" sz="2000" b="1" dirty="0">
              <a:solidFill>
                <a:schemeClr val="accent1">
                  <a:lumMod val="50000"/>
                </a:schemeClr>
              </a:solidFill>
            </a:endParaRPr>
          </a:p>
          <a:p>
            <a:pPr algn="l"/>
            <a:r>
              <a:rPr lang="en-US" altLang="zh-CN" sz="2000" b="1" dirty="0">
                <a:solidFill>
                  <a:schemeClr val="accent1">
                    <a:lumMod val="50000"/>
                  </a:schemeClr>
                </a:solidFill>
              </a:rPr>
              <a:t>Co-supervisor : Prof. WENG </a:t>
            </a:r>
            <a:r>
              <a:rPr lang="en-US" altLang="zh-CN" sz="2000" b="1" dirty="0" err="1">
                <a:solidFill>
                  <a:schemeClr val="accent1">
                    <a:lumMod val="50000"/>
                  </a:schemeClr>
                </a:solidFill>
              </a:rPr>
              <a:t>Lutao</a:t>
            </a:r>
            <a:endParaRPr lang="en-US" altLang="zh-CN" sz="20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 bwMode="auto">
          <a:xfrm>
            <a:off x="10744200" y="6415088"/>
            <a:ext cx="1311275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/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2400" b="1" i="1" kern="1200" smtClean="0">
                <a:solidFill>
                  <a:srgbClr val="FFFFFF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Calibri" panose="020F050202020403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  <a:sym typeface="Calibri" panose="020F0502020204030204" pitchFamily="34" charset="0"/>
              </a:defRPr>
            </a:lvl2pPr>
            <a:lvl3pPr marL="911225" indent="3175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  <a:sym typeface="Calibri" panose="020F0502020204030204" pitchFamily="34" charset="0"/>
              </a:defRPr>
            </a:lvl3pPr>
            <a:lvl4pPr marL="1368425" indent="3175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  <a:sym typeface="Calibri" panose="020F0502020204030204" pitchFamily="34" charset="0"/>
              </a:defRPr>
            </a:lvl4pPr>
            <a:lvl5pPr marL="1825625" indent="3175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  <a:sym typeface="Calibri" panose="020F050202020403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  <a:sym typeface="Calibri" panose="020F050202020403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  <a:sym typeface="Calibri" panose="020F050202020403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  <a:sym typeface="Calibri" panose="020F050202020403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  <a:sym typeface="Calibri" panose="020F0502020204030204" pitchFamily="34" charset="0"/>
              </a:defRPr>
            </a:lvl9pPr>
          </a:lstStyle>
          <a:p>
            <a:fld id="{30055C4C-D7A3-431C-BDD5-E6EB3A7AC7E0}" type="slidenum">
              <a:rPr lang="zh-CN" altLang="en-US" smtClean="0"/>
              <a:pPr/>
              <a:t>1</a:t>
            </a:fld>
            <a:endParaRPr lang="zh-CN" alt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7CFF3B1-347E-E2A9-D570-AF5337AF82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9843" y="30849"/>
            <a:ext cx="1120600" cy="1125598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CAF3CBD0-DEBE-39DE-F2A3-E4433BFE9E22}"/>
              </a:ext>
            </a:extLst>
          </p:cNvPr>
          <p:cNvSpPr txBox="1"/>
          <p:nvPr/>
        </p:nvSpPr>
        <p:spPr>
          <a:xfrm>
            <a:off x="953799" y="1155777"/>
            <a:ext cx="10594319" cy="9015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40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X-Ray</a:t>
            </a:r>
            <a:r>
              <a:rPr lang="en-US" altLang="zh-CN" sz="40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Spectrograph and </a:t>
            </a:r>
            <a:r>
              <a:rPr lang="en-US" sz="40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crystallography</a:t>
            </a:r>
            <a:endParaRPr lang="zh-CN" altLang="en-US" sz="40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EB2A54B-9975-0CBE-A8FE-29400BA4AED5}"/>
              </a:ext>
            </a:extLst>
          </p:cNvPr>
          <p:cNvSpPr txBox="1"/>
          <p:nvPr/>
        </p:nvSpPr>
        <p:spPr>
          <a:xfrm>
            <a:off x="218337" y="5319520"/>
            <a:ext cx="8570741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" altLang="zh-CN" b="0" i="0" u="none" strike="noStrike" dirty="0">
              <a:solidFill>
                <a:srgbClr val="FF0000"/>
              </a:solidFill>
              <a:effectLst/>
              <a:latin typeface="Söhne Mono"/>
            </a:endParaRPr>
          </a:p>
          <a:p>
            <a:r>
              <a:rPr lang="en" altLang="zh-CN" sz="20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Contact: </a:t>
            </a:r>
            <a:r>
              <a:rPr lang="en" altLang="zh-CN" sz="20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binjacobcao@gmail.com</a:t>
            </a:r>
            <a:r>
              <a:rPr lang="en" altLang="zh-CN" sz="20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; </a:t>
            </a:r>
            <a:r>
              <a:rPr lang="en" altLang="zh-CN" sz="20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hlinkClick r:id="rId5"/>
              </a:rPr>
              <a:t>https://github.com/Bin-Cao</a:t>
            </a:r>
            <a:r>
              <a:rPr lang="en" altLang="zh-CN" sz="20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</a:p>
        </p:txBody>
      </p:sp>
      <p:sp>
        <p:nvSpPr>
          <p:cNvPr id="18" name="副标题 2">
            <a:extLst>
              <a:ext uri="{FF2B5EF4-FFF2-40B4-BE49-F238E27FC236}">
                <a16:creationId xmlns:a16="http://schemas.microsoft.com/office/drawing/2014/main" id="{692B64F0-09F8-0F7A-9E44-FB660122A24B}"/>
              </a:ext>
            </a:extLst>
          </p:cNvPr>
          <p:cNvSpPr txBox="1">
            <a:spLocks/>
          </p:cNvSpPr>
          <p:nvPr/>
        </p:nvSpPr>
        <p:spPr>
          <a:xfrm>
            <a:off x="1383119" y="2556034"/>
            <a:ext cx="5203031" cy="216042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altLang="zh-CN" sz="2800" dirty="0">
              <a:solidFill>
                <a:schemeClr val="accent1">
                  <a:lumMod val="50000"/>
                </a:schemeClr>
              </a:solidFill>
            </a:endParaRPr>
          </a:p>
          <a:p>
            <a:pPr algn="l"/>
            <a:r>
              <a:rPr lang="zh-CN" altLang="en-US" sz="2400" i="1" dirty="0">
                <a:latin typeface="Arial" panose="020B0604020202020204" pitchFamily="34" charset="0"/>
                <a:cs typeface="Arial" panose="020B0604020202020204" pitchFamily="34" charset="0"/>
              </a:rPr>
              <a:t>▶︎ </a:t>
            </a:r>
            <a:r>
              <a:rPr lang="en-US" altLang="zh-CN" dirty="0">
                <a:solidFill>
                  <a:schemeClr val="accent1">
                    <a:lumMod val="50000"/>
                  </a:schemeClr>
                </a:solidFill>
              </a:rPr>
              <a:t>X-ray interaction</a:t>
            </a:r>
            <a:endParaRPr lang="en" altLang="zh-CN" dirty="0">
              <a:solidFill>
                <a:schemeClr val="accent1">
                  <a:lumMod val="50000"/>
                </a:schemeClr>
              </a:solidFill>
            </a:endParaRPr>
          </a:p>
          <a:p>
            <a:pPr algn="l"/>
            <a:r>
              <a:rPr lang="zh-CN" altLang="en-US" sz="2400" i="1" dirty="0">
                <a:latin typeface="Arial" panose="020B0604020202020204" pitchFamily="34" charset="0"/>
                <a:cs typeface="Arial" panose="020B0604020202020204" pitchFamily="34" charset="0"/>
              </a:rPr>
              <a:t>▶︎ </a:t>
            </a:r>
            <a:r>
              <a:rPr lang="en" altLang="zh-CN" dirty="0">
                <a:solidFill>
                  <a:schemeClr val="accent1">
                    <a:lumMod val="50000"/>
                  </a:schemeClr>
                </a:solidFill>
              </a:rPr>
              <a:t>Spectrograph analysis</a:t>
            </a:r>
          </a:p>
          <a:p>
            <a:pPr algn="l"/>
            <a:r>
              <a:rPr lang="zh-CN" altLang="en-US" sz="2800" i="1" dirty="0">
                <a:latin typeface="Arial" panose="020B0604020202020204" pitchFamily="34" charset="0"/>
                <a:cs typeface="Arial" panose="020B0604020202020204" pitchFamily="34" charset="0"/>
              </a:rPr>
              <a:t>▶︎ </a:t>
            </a:r>
            <a:r>
              <a:rPr lang="en-CN" altLang="zh-CN" dirty="0">
                <a:solidFill>
                  <a:schemeClr val="accent1">
                    <a:lumMod val="50000"/>
                  </a:schemeClr>
                </a:solidFill>
              </a:rPr>
              <a:t>Decomposition</a:t>
            </a:r>
            <a:endParaRPr lang="en" altLang="zh-CN" dirty="0">
              <a:solidFill>
                <a:schemeClr val="accent1">
                  <a:lumMod val="50000"/>
                </a:schemeClr>
              </a:solidFill>
            </a:endParaRPr>
          </a:p>
          <a:p>
            <a:pPr algn="l"/>
            <a:endParaRPr lang="en" altLang="zh-CN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2B3F31F6-C90E-D685-C1DC-6078784B9D4E}"/>
              </a:ext>
            </a:extLst>
          </p:cNvPr>
          <p:cNvSpPr txBox="1">
            <a:spLocks/>
          </p:cNvSpPr>
          <p:nvPr/>
        </p:nvSpPr>
        <p:spPr bwMode="auto">
          <a:xfrm>
            <a:off x="10744200" y="6415088"/>
            <a:ext cx="1311275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rtlCol="0" anchor="ctr" anchorCtr="0" compatLnSpc="1"/>
          <a:lstStyle>
            <a:defPPr>
              <a:defRPr lang="zh-CN"/>
            </a:defPPr>
            <a:lvl1pPr marL="0" algn="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b="1" i="1" kern="1200" smtClean="0">
                <a:solidFill>
                  <a:srgbClr val="FFFFFF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Calibri" panose="020F0502020204030204" pitchFamily="34" charset="0"/>
              </a:defRPr>
            </a:lvl1pPr>
            <a:lvl2pPr marL="4572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  <a:sym typeface="Calibri" panose="020F0502020204030204" pitchFamily="34" charset="0"/>
              </a:defRPr>
            </a:lvl2pPr>
            <a:lvl3pPr marL="911225" indent="3175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  <a:sym typeface="Calibri" panose="020F0502020204030204" pitchFamily="34" charset="0"/>
              </a:defRPr>
            </a:lvl3pPr>
            <a:lvl4pPr marL="1368425" indent="3175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  <a:sym typeface="Calibri" panose="020F0502020204030204" pitchFamily="34" charset="0"/>
              </a:defRPr>
            </a:lvl4pPr>
            <a:lvl5pPr marL="1825625" indent="3175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  <a:sym typeface="Calibri" panose="020F0502020204030204" pitchFamily="34" charset="0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  <a:sym typeface="Calibri" panose="020F0502020204030204" pitchFamily="34" charset="0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  <a:sym typeface="Calibri" panose="020F0502020204030204" pitchFamily="34" charset="0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  <a:sym typeface="Calibri" panose="020F0502020204030204" pitchFamily="34" charset="0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  <a:sym typeface="Calibri" panose="020F0502020204030204" pitchFamily="34" charset="0"/>
              </a:defRPr>
            </a:lvl9pPr>
          </a:lstStyle>
          <a:p>
            <a:fld id="{30055C4C-D7A3-431C-BDD5-E6EB3A7AC7E0}" type="slidenum">
              <a:rPr lang="zh-CN" altLang="en-US" smtClean="0"/>
              <a:pPr/>
              <a:t>2</a:t>
            </a:fld>
            <a:endParaRPr lang="zh-CN" altLang="en-US" dirty="0"/>
          </a:p>
        </p:txBody>
      </p:sp>
      <p:sp>
        <p:nvSpPr>
          <p:cNvPr id="3" name="灯片编号占位符 1">
            <a:extLst>
              <a:ext uri="{FF2B5EF4-FFF2-40B4-BE49-F238E27FC236}">
                <a16:creationId xmlns:a16="http://schemas.microsoft.com/office/drawing/2014/main" id="{77CD8149-E332-910B-3B2D-632A4D12813B}"/>
              </a:ext>
            </a:extLst>
          </p:cNvPr>
          <p:cNvSpPr txBox="1">
            <a:spLocks/>
          </p:cNvSpPr>
          <p:nvPr/>
        </p:nvSpPr>
        <p:spPr bwMode="auto">
          <a:xfrm>
            <a:off x="10880725" y="6475942"/>
            <a:ext cx="1311275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rtlCol="0" anchor="ctr" anchorCtr="0" compatLnSpc="1"/>
          <a:lstStyle>
            <a:defPPr>
              <a:defRPr lang="zh-CN"/>
            </a:defPPr>
            <a:lvl1pPr marL="0" algn="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b="1" i="1" kern="1200" smtClean="0">
                <a:solidFill>
                  <a:srgbClr val="FFFFFF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Calibri" panose="020F0502020204030204" pitchFamily="34" charset="0"/>
              </a:defRPr>
            </a:lvl1pPr>
            <a:lvl2pPr marL="4572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  <a:sym typeface="Calibri" panose="020F0502020204030204" pitchFamily="34" charset="0"/>
              </a:defRPr>
            </a:lvl2pPr>
            <a:lvl3pPr marL="911225" indent="3175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  <a:sym typeface="Calibri" panose="020F0502020204030204" pitchFamily="34" charset="0"/>
              </a:defRPr>
            </a:lvl3pPr>
            <a:lvl4pPr marL="1368425" indent="3175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  <a:sym typeface="Calibri" panose="020F0502020204030204" pitchFamily="34" charset="0"/>
              </a:defRPr>
            </a:lvl4pPr>
            <a:lvl5pPr marL="1825625" indent="3175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  <a:sym typeface="Calibri" panose="020F0502020204030204" pitchFamily="34" charset="0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  <a:sym typeface="Calibri" panose="020F0502020204030204" pitchFamily="34" charset="0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  <a:sym typeface="Calibri" panose="020F0502020204030204" pitchFamily="34" charset="0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  <a:sym typeface="Calibri" panose="020F0502020204030204" pitchFamily="34" charset="0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  <a:sym typeface="Calibri" panose="020F0502020204030204" pitchFamily="34" charset="0"/>
              </a:defRPr>
            </a:lvl9pPr>
          </a:lstStyle>
          <a:p>
            <a:fld id="{30055C4C-D7A3-431C-BDD5-E6EB3A7AC7E0}" type="slidenum">
              <a:rPr lang="zh-CN" altLang="en-US" smtClean="0">
                <a:solidFill>
                  <a:schemeClr val="tx1"/>
                </a:solidFill>
              </a:rPr>
              <a:pPr/>
              <a:t>2</a:t>
            </a:fld>
            <a:endParaRPr lang="zh-CN" altLang="en-US" dirty="0">
              <a:solidFill>
                <a:schemeClr val="tx1"/>
              </a:solidFill>
            </a:endParaRPr>
          </a:p>
        </p:txBody>
      </p:sp>
      <p:pic>
        <p:nvPicPr>
          <p:cNvPr id="9" name="Picture 27">
            <a:extLst>
              <a:ext uri="{FF2B5EF4-FFF2-40B4-BE49-F238E27FC236}">
                <a16:creationId xmlns:a16="http://schemas.microsoft.com/office/drawing/2014/main" id="{B27618FE-6BE3-9914-BC36-19B03BECE1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530" y="4909926"/>
            <a:ext cx="5393268" cy="93614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8">
                <a:extLst>
                  <a:ext uri="{FF2B5EF4-FFF2-40B4-BE49-F238E27FC236}">
                    <a16:creationId xmlns:a16="http://schemas.microsoft.com/office/drawing/2014/main" id="{F62B0C9A-F517-7E71-BFC5-805D9982390D}"/>
                  </a:ext>
                </a:extLst>
              </p:cNvPr>
              <p:cNvSpPr txBox="1"/>
              <p:nvPr/>
            </p:nvSpPr>
            <p:spPr>
              <a:xfrm>
                <a:off x="507718" y="5951371"/>
                <a:ext cx="4932383" cy="41011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2000" b="0" dirty="0">
                    <a:ea typeface="Microsoft YaHei" panose="020B0503020204020204" pitchFamily="34" charset="-122"/>
                  </a:rPr>
                  <a:t> </a:t>
                </a:r>
                <a:r>
                  <a:rPr lang="en" altLang="zh-CN" sz="2000" dirty="0">
                    <a:ea typeface="Microsoft YaHei" panose="020B0503020204020204" pitchFamily="34" charset="-122"/>
                  </a:rPr>
                  <a:t>Euler‘s formula</a:t>
                </a:r>
                <a14:m>
                  <m:oMath xmlns:m="http://schemas.openxmlformats.org/officeDocument/2006/math">
                    <m:r>
                      <a:rPr lang="zh-CN" altLang="en-US" sz="2000" b="0" i="0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 </m:t>
                    </m:r>
                    <m:sSup>
                      <m:sSup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zh-CN" sz="2000" i="1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i</m:t>
                        </m:r>
                        <m:r>
                          <a:rPr lang="en-US" altLang="zh-CN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  <m:r>
                          <m:rPr>
                            <m:sty m:val="p"/>
                          </m:rP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t</m:t>
                        </m:r>
                      </m:sup>
                    </m:sSup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=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𝑐𝑜𝑠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𝜔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𝑖𝑠𝑖𝑛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𝜔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</m:oMath>
                </a14:m>
                <a:endParaRPr lang="en-CN" sz="2000" dirty="0"/>
              </a:p>
            </p:txBody>
          </p:sp>
        </mc:Choice>
        <mc:Fallback xmlns="">
          <p:sp>
            <p:nvSpPr>
              <p:cNvPr id="10" name="TextBox 8">
                <a:extLst>
                  <a:ext uri="{FF2B5EF4-FFF2-40B4-BE49-F238E27FC236}">
                    <a16:creationId xmlns:a16="http://schemas.microsoft.com/office/drawing/2014/main" id="{F62B0C9A-F517-7E71-BFC5-805D998239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718" y="5951371"/>
                <a:ext cx="4932383" cy="410112"/>
              </a:xfrm>
              <a:prstGeom prst="rect">
                <a:avLst/>
              </a:prstGeom>
              <a:blipFill>
                <a:blip r:embed="rId4"/>
                <a:stretch>
                  <a:fillRect t="-2941" b="-235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4">
                <a:extLst>
                  <a:ext uri="{FF2B5EF4-FFF2-40B4-BE49-F238E27FC236}">
                    <a16:creationId xmlns:a16="http://schemas.microsoft.com/office/drawing/2014/main" id="{BBF2590D-CE69-1B5C-9AD0-93BD8CDD71DF}"/>
                  </a:ext>
                </a:extLst>
              </p:cNvPr>
              <p:cNvSpPr txBox="1"/>
              <p:nvPr/>
            </p:nvSpPr>
            <p:spPr>
              <a:xfrm>
                <a:off x="641682" y="3562744"/>
                <a:ext cx="4045916" cy="55765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" altLang="zh-CN" sz="2000" dirty="0">
                    <a:ea typeface="Cambria Math" panose="02040503050406030204" pitchFamily="18" charset="0"/>
                  </a:rPr>
                  <a:t>Wave path difference</a:t>
                </a:r>
                <a:r>
                  <a:rPr lang="zh-CN" altLang="en-US" sz="20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CN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CN" sz="20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⃑"/>
                            <m:ctrlPr>
                              <a:rPr lang="en-CN" altLang="zh-CN" sz="2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zh-CN" sz="20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K</m:t>
                            </m:r>
                          </m:e>
                        </m:acc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</m:t>
                        </m:r>
                        <m:acc>
                          <m:accPr>
                            <m:chr m:val="⃑"/>
                            <m:ctrlPr>
                              <a:rPr lang="en-US" altLang="zh-CN" sz="2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sSup>
                              <m:sSupPr>
                                <m:ctrlP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K</m:t>
                                </m:r>
                              </m:e>
                              <m:sup>
                                <m:r>
                                  <a:rPr lang="zh-CN" altLang="en-US" sz="2000" i="1">
                                    <a:latin typeface="Cambria Math" panose="02040503050406030204" pitchFamily="18" charset="0"/>
                                  </a:rPr>
                                  <m:t>‘</m:t>
                                </m:r>
                              </m:sup>
                            </m:sSup>
                          </m:e>
                        </m:acc>
                      </m:e>
                    </m:d>
                    <m:acc>
                      <m:accPr>
                        <m:chr m:val="⃑"/>
                        <m:ctrlPr>
                          <a:rPr lang="en-US" altLang="zh-CN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r</m:t>
                        </m:r>
                      </m:e>
                    </m:acc>
                  </m:oMath>
                </a14:m>
                <a:endParaRPr lang="en-CN" sz="2000" dirty="0"/>
              </a:p>
            </p:txBody>
          </p:sp>
        </mc:Choice>
        <mc:Fallback xmlns="">
          <p:sp>
            <p:nvSpPr>
              <p:cNvPr id="11" name="TextBox 14">
                <a:extLst>
                  <a:ext uri="{FF2B5EF4-FFF2-40B4-BE49-F238E27FC236}">
                    <a16:creationId xmlns:a16="http://schemas.microsoft.com/office/drawing/2014/main" id="{BBF2590D-CE69-1B5C-9AD0-93BD8CDD71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682" y="3562744"/>
                <a:ext cx="4045916" cy="557653"/>
              </a:xfrm>
              <a:prstGeom prst="rect">
                <a:avLst/>
              </a:prstGeom>
              <a:blipFill>
                <a:blip r:embed="rId5"/>
                <a:stretch>
                  <a:fillRect l="-1563" b="-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7" name="Picture 15">
            <a:extLst>
              <a:ext uri="{FF2B5EF4-FFF2-40B4-BE49-F238E27FC236}">
                <a16:creationId xmlns:a16="http://schemas.microsoft.com/office/drawing/2014/main" id="{E32260C4-2B6D-8768-1CD2-FCE9D9AA467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9159498" y="4675784"/>
            <a:ext cx="739563" cy="217119"/>
          </a:xfrm>
          <a:prstGeom prst="rect">
            <a:avLst/>
          </a:prstGeom>
        </p:spPr>
      </p:pic>
      <p:pic>
        <p:nvPicPr>
          <p:cNvPr id="18" name="Picture 19">
            <a:extLst>
              <a:ext uri="{FF2B5EF4-FFF2-40B4-BE49-F238E27FC236}">
                <a16:creationId xmlns:a16="http://schemas.microsoft.com/office/drawing/2014/main" id="{84DFCB3C-00EA-CC6D-2CB9-A11D61654B7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9267082" y="3785821"/>
            <a:ext cx="739563" cy="217119"/>
          </a:xfrm>
          <a:prstGeom prst="rect">
            <a:avLst/>
          </a:prstGeom>
        </p:spPr>
      </p:pic>
      <p:pic>
        <p:nvPicPr>
          <p:cNvPr id="22" name="图片 21" descr="图示&#10;&#10;描述已自动生成">
            <a:extLst>
              <a:ext uri="{FF2B5EF4-FFF2-40B4-BE49-F238E27FC236}">
                <a16:creationId xmlns:a16="http://schemas.microsoft.com/office/drawing/2014/main" id="{CC2BC84D-668C-E172-1015-34F7CA36D9E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763" y="1152187"/>
            <a:ext cx="4193892" cy="2400451"/>
          </a:xfrm>
          <a:prstGeom prst="rect">
            <a:avLst/>
          </a:prstGeom>
        </p:spPr>
      </p:pic>
      <p:cxnSp>
        <p:nvCxnSpPr>
          <p:cNvPr id="26" name="直线连接符 25">
            <a:extLst>
              <a:ext uri="{FF2B5EF4-FFF2-40B4-BE49-F238E27FC236}">
                <a16:creationId xmlns:a16="http://schemas.microsoft.com/office/drawing/2014/main" id="{7F1CD9F9-0EC2-012D-4556-7D3BD110D7DC}"/>
              </a:ext>
            </a:extLst>
          </p:cNvPr>
          <p:cNvCxnSpPr/>
          <p:nvPr/>
        </p:nvCxnSpPr>
        <p:spPr>
          <a:xfrm>
            <a:off x="0" y="609600"/>
            <a:ext cx="12192000" cy="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9" name="文本框 28">
            <a:extLst>
              <a:ext uri="{FF2B5EF4-FFF2-40B4-BE49-F238E27FC236}">
                <a16:creationId xmlns:a16="http://schemas.microsoft.com/office/drawing/2014/main" id="{B4DECF44-AF0B-BD1B-AB37-6C7AD9A660D7}"/>
              </a:ext>
            </a:extLst>
          </p:cNvPr>
          <p:cNvSpPr txBox="1"/>
          <p:nvPr/>
        </p:nvSpPr>
        <p:spPr>
          <a:xfrm>
            <a:off x="284903" y="1966945"/>
            <a:ext cx="15867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Incident</a:t>
            </a:r>
            <a:r>
              <a:rPr kumimoji="1" lang="zh-CN" altLang="en-US" dirty="0"/>
              <a:t> </a:t>
            </a:r>
            <a:r>
              <a:rPr kumimoji="1" lang="en-US" altLang="zh-CN" dirty="0"/>
              <a:t>beam </a:t>
            </a:r>
            <a:endParaRPr kumimoji="1" lang="zh-CN" altLang="en-US" dirty="0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527CE11D-84A3-FCAD-1EC5-241866461DDA}"/>
              </a:ext>
            </a:extLst>
          </p:cNvPr>
          <p:cNvSpPr txBox="1"/>
          <p:nvPr/>
        </p:nvSpPr>
        <p:spPr>
          <a:xfrm>
            <a:off x="3500995" y="1964086"/>
            <a:ext cx="17812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diffracted</a:t>
            </a:r>
            <a:r>
              <a:rPr kumimoji="1" lang="zh-CN" altLang="en-US" dirty="0"/>
              <a:t> </a:t>
            </a:r>
            <a:r>
              <a:rPr kumimoji="1" lang="en-US" altLang="zh-CN" dirty="0"/>
              <a:t>beam </a:t>
            </a:r>
            <a:endParaRPr kumimoji="1" lang="zh-CN" altLang="en-US" dirty="0"/>
          </a:p>
        </p:txBody>
      </p:sp>
      <p:pic>
        <p:nvPicPr>
          <p:cNvPr id="32" name="图片 31">
            <a:extLst>
              <a:ext uri="{FF2B5EF4-FFF2-40B4-BE49-F238E27FC236}">
                <a16:creationId xmlns:a16="http://schemas.microsoft.com/office/drawing/2014/main" id="{05C346F5-4885-A93E-13C6-A280331A6F9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2849" y="1280331"/>
            <a:ext cx="1181100" cy="203200"/>
          </a:xfrm>
          <a:prstGeom prst="rect">
            <a:avLst/>
          </a:prstGeom>
        </p:spPr>
      </p:pic>
      <p:pic>
        <p:nvPicPr>
          <p:cNvPr id="33" name="图片 32">
            <a:extLst>
              <a:ext uri="{FF2B5EF4-FFF2-40B4-BE49-F238E27FC236}">
                <a16:creationId xmlns:a16="http://schemas.microsoft.com/office/drawing/2014/main" id="{A7C68B1C-E817-2756-20CB-725B24F1060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584" y="1344588"/>
            <a:ext cx="1181100" cy="203200"/>
          </a:xfrm>
          <a:prstGeom prst="rect">
            <a:avLst/>
          </a:prstGeom>
        </p:spPr>
      </p:pic>
      <p:sp>
        <p:nvSpPr>
          <p:cNvPr id="35" name="文本框 34">
            <a:extLst>
              <a:ext uri="{FF2B5EF4-FFF2-40B4-BE49-F238E27FC236}">
                <a16:creationId xmlns:a16="http://schemas.microsoft.com/office/drawing/2014/main" id="{38975E75-575A-86F5-3E12-76705D7C0CD0}"/>
              </a:ext>
            </a:extLst>
          </p:cNvPr>
          <p:cNvSpPr txBox="1"/>
          <p:nvPr/>
        </p:nvSpPr>
        <p:spPr>
          <a:xfrm>
            <a:off x="3195250" y="2977781"/>
            <a:ext cx="17438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CN" dirty="0"/>
              <a:t>E</a:t>
            </a:r>
            <a:r>
              <a:rPr lang="zh-CN" altLang="en-US" dirty="0"/>
              <a:t>lectron</a:t>
            </a:r>
          </a:p>
        </p:txBody>
      </p:sp>
      <p:cxnSp>
        <p:nvCxnSpPr>
          <p:cNvPr id="37" name="直线箭头连接符 36">
            <a:extLst>
              <a:ext uri="{FF2B5EF4-FFF2-40B4-BE49-F238E27FC236}">
                <a16:creationId xmlns:a16="http://schemas.microsoft.com/office/drawing/2014/main" id="{5035EFB1-2F91-1379-0B65-731204001DB0}"/>
              </a:ext>
            </a:extLst>
          </p:cNvPr>
          <p:cNvCxnSpPr>
            <a:cxnSpLocks/>
          </p:cNvCxnSpPr>
          <p:nvPr/>
        </p:nvCxnSpPr>
        <p:spPr>
          <a:xfrm flipH="1" flipV="1">
            <a:off x="2855709" y="2742226"/>
            <a:ext cx="497091" cy="2733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直线箭头连接符 37">
            <a:extLst>
              <a:ext uri="{FF2B5EF4-FFF2-40B4-BE49-F238E27FC236}">
                <a16:creationId xmlns:a16="http://schemas.microsoft.com/office/drawing/2014/main" id="{5BCB7E0D-7A51-80E9-4584-3404D5EF6971}"/>
              </a:ext>
            </a:extLst>
          </p:cNvPr>
          <p:cNvCxnSpPr>
            <a:cxnSpLocks/>
          </p:cNvCxnSpPr>
          <p:nvPr/>
        </p:nvCxnSpPr>
        <p:spPr>
          <a:xfrm flipH="1" flipV="1">
            <a:off x="2820611" y="2258954"/>
            <a:ext cx="532189" cy="7298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3" name="文本框 42">
            <a:extLst>
              <a:ext uri="{FF2B5EF4-FFF2-40B4-BE49-F238E27FC236}">
                <a16:creationId xmlns:a16="http://schemas.microsoft.com/office/drawing/2014/main" id="{B94CE3C6-9866-85A6-7508-52F8E2BAB202}"/>
              </a:ext>
            </a:extLst>
          </p:cNvPr>
          <p:cNvSpPr txBox="1"/>
          <p:nvPr/>
        </p:nvSpPr>
        <p:spPr>
          <a:xfrm>
            <a:off x="1419069" y="978041"/>
            <a:ext cx="18668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CN" dirty="0"/>
              <a:t>P</a:t>
            </a:r>
            <a:r>
              <a:rPr lang="zh-CN" altLang="en-US" dirty="0"/>
              <a:t>hoton</a:t>
            </a:r>
            <a:r>
              <a:rPr lang="en-US" altLang="zh-CN" dirty="0"/>
              <a:t> 1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308F8ED8-B7A8-F145-AA1C-0A99CB2078F1}"/>
                  </a:ext>
                </a:extLst>
              </p:cNvPr>
              <p:cNvSpPr txBox="1"/>
              <p:nvPr/>
            </p:nvSpPr>
            <p:spPr>
              <a:xfrm>
                <a:off x="6266782" y="1152187"/>
                <a:ext cx="5848635" cy="53926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2000" dirty="0"/>
                  <a:t>A </a:t>
                </a:r>
                <a:r>
                  <a:rPr lang="zh-CN" altLang="en-US" sz="2000" dirty="0"/>
                  <a:t>photon</a:t>
                </a:r>
                <a:r>
                  <a:rPr lang="en-US" altLang="zh-CN" sz="2000" dirty="0"/>
                  <a:t> is a particle</a:t>
                </a:r>
                <a:r>
                  <a:rPr lang="zh-CN" altLang="en-US" sz="2000" dirty="0"/>
                  <a:t>：</a:t>
                </a:r>
                <a:endParaRPr lang="en-US" altLang="zh-CN" sz="2000" dirty="0"/>
              </a:p>
              <a:p>
                <a14:m>
                  <m:oMath xmlns:m="http://schemas.openxmlformats.org/officeDocument/2006/math">
                    <m:r>
                      <a:rPr lang="en-US" altLang="zh-CN" sz="2000" i="1" dirty="0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altLang="zh-CN" sz="2000" dirty="0">
                    <a:solidFill>
                      <a:schemeClr val="accent1">
                        <a:lumMod val="75000"/>
                      </a:schemeClr>
                    </a:solidFill>
                  </a:rPr>
                  <a:t>= h / P</a:t>
                </a:r>
              </a:p>
              <a:p>
                <a:r>
                  <a:rPr lang="en-US" altLang="zh-CN" sz="2000" dirty="0">
                    <a:solidFill>
                      <a:schemeClr val="accent1">
                        <a:lumMod val="75000"/>
                      </a:schemeClr>
                    </a:solidFill>
                  </a:rPr>
                  <a:t>w=</a:t>
                </a:r>
                <a:r>
                  <a:rPr lang="zh-CN" altLang="en-US" sz="2000" dirty="0">
                    <a:solidFill>
                      <a:schemeClr val="accent1">
                        <a:lumMod val="75000"/>
                      </a:schemeClr>
                    </a:solidFill>
                  </a:rPr>
                  <a:t> </a:t>
                </a:r>
                <a:r>
                  <a:rPr lang="en-US" altLang="zh-CN" sz="2000" dirty="0">
                    <a:solidFill>
                      <a:schemeClr val="accent1">
                        <a:lumMod val="75000"/>
                      </a:schemeClr>
                    </a:solidFill>
                  </a:rPr>
                  <a:t>E</a:t>
                </a:r>
                <a:r>
                  <a:rPr lang="zh-CN" altLang="en-US" sz="2000" dirty="0">
                    <a:solidFill>
                      <a:schemeClr val="accent1">
                        <a:lumMod val="75000"/>
                      </a:schemeClr>
                    </a:solidFill>
                  </a:rPr>
                  <a:t> </a:t>
                </a:r>
                <a:r>
                  <a:rPr lang="en-US" altLang="zh-CN" sz="2000" dirty="0">
                    <a:solidFill>
                      <a:schemeClr val="accent1">
                        <a:lumMod val="75000"/>
                      </a:schemeClr>
                    </a:solidFill>
                  </a:rPr>
                  <a:t>/</a:t>
                </a:r>
                <a:r>
                  <a:rPr lang="zh-CN" altLang="en-US" sz="2000" dirty="0">
                    <a:solidFill>
                      <a:schemeClr val="accent1">
                        <a:lumMod val="75000"/>
                      </a:schemeClr>
                    </a:solidFill>
                  </a:rPr>
                  <a:t> </a:t>
                </a:r>
                <a:r>
                  <a:rPr lang="en-US" altLang="zh-CN" sz="2000" dirty="0">
                    <a:solidFill>
                      <a:schemeClr val="accent1">
                        <a:lumMod val="75000"/>
                      </a:schemeClr>
                    </a:solidFill>
                  </a:rPr>
                  <a:t>h</a:t>
                </a:r>
              </a:p>
              <a:p>
                <a:endParaRPr lang="en-US" altLang="zh-CN" sz="2000" dirty="0"/>
              </a:p>
              <a:p>
                <a:r>
                  <a:rPr lang="en-US" altLang="zh-CN" sz="2000" dirty="0"/>
                  <a:t>Where E</a:t>
                </a:r>
                <a:r>
                  <a:rPr lang="zh-CN" altLang="en-US" sz="2000" dirty="0"/>
                  <a:t> </a:t>
                </a:r>
                <a:r>
                  <a:rPr lang="en-US" altLang="zh-CN" sz="2000" dirty="0"/>
                  <a:t>: energy ; </a:t>
                </a:r>
              </a:p>
              <a:p>
                <a:r>
                  <a:rPr lang="en-US" altLang="zh-CN" sz="2000" dirty="0"/>
                  <a:t>P :</a:t>
                </a:r>
                <a:r>
                  <a:rPr lang="zh-CN" altLang="en-US" sz="2000" dirty="0"/>
                  <a:t> </a:t>
                </a:r>
                <a:r>
                  <a:rPr lang="en-US" altLang="zh-CN" sz="2000" dirty="0"/>
                  <a:t>momentum</a:t>
                </a:r>
                <a:r>
                  <a:rPr lang="zh-CN" altLang="en-US" sz="2000" dirty="0"/>
                  <a:t>；</a:t>
                </a:r>
                <a:endParaRPr lang="en-US" altLang="zh-CN" sz="2000" dirty="0"/>
              </a:p>
              <a:p>
                <a:r>
                  <a:rPr lang="en-US" altLang="zh-CN" sz="2000" dirty="0"/>
                  <a:t>h :</a:t>
                </a:r>
                <a:r>
                  <a:rPr lang="zh-CN" altLang="en-US" sz="2000" dirty="0"/>
                  <a:t> </a:t>
                </a:r>
                <a:r>
                  <a:rPr lang="en" altLang="zh-CN" sz="2000" dirty="0"/>
                  <a:t>Planck constant</a:t>
                </a:r>
              </a:p>
              <a:p>
                <a:endParaRPr lang="en" altLang="zh-CN" sz="2000" dirty="0"/>
              </a:p>
              <a:p>
                <a:r>
                  <a:rPr lang="en" altLang="zh-CN" sz="2000" dirty="0"/>
                  <a:t>Wave</a:t>
                </a:r>
                <a:r>
                  <a:rPr lang="zh-CN" altLang="en-US" sz="2000" dirty="0"/>
                  <a:t> </a:t>
                </a:r>
                <a:r>
                  <a:rPr lang="en-US" altLang="zh-CN" sz="2000" dirty="0"/>
                  <a:t>function</a:t>
                </a:r>
                <a:r>
                  <a:rPr lang="zh-CN" altLang="en-US" sz="2000" dirty="0"/>
                  <a:t> ：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sSupPr>
                        <m:ctrlPr>
                          <a:rPr lang="en-US" altLang="zh-CN" sz="20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sz="20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d>
                          <m:dPr>
                            <m:ctrlPr>
                              <a:rPr lang="en-US" altLang="zh-CN" sz="2000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zh-CN" sz="2000" i="1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sz="2000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sz="2000" i="1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𝑤𝑡</m:t>
                            </m:r>
                          </m:e>
                        </m:d>
                      </m:sup>
                    </m:sSup>
                  </m:oMath>
                </a14:m>
                <a:endParaRPr lang="en-US" altLang="zh-CN" sz="2000" b="0" dirty="0"/>
              </a:p>
              <a:p>
                <a:endParaRPr lang="en-US" altLang="zh-CN" sz="2000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2000" dirty="0"/>
                  <a:t> represents the probability of the particle at a specific location</a:t>
                </a:r>
              </a:p>
              <a:p>
                <a:endParaRPr lang="en-US" altLang="zh-CN" sz="2000" dirty="0"/>
              </a:p>
              <a:p>
                <a:endParaRPr lang="en-US" altLang="zh-CN" sz="2000" dirty="0"/>
              </a:p>
              <a:p>
                <a:endParaRPr lang="en-US" altLang="zh-CN" sz="2000" dirty="0"/>
              </a:p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CN" sz="2000" dirty="0"/>
                      <m:t>A</m:t>
                    </m:r>
                    <m:sSup>
                      <m:sSup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d>
                          <m:d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i="1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𝑘𝑥</m:t>
                            </m:r>
                            <m:r>
                              <a:rPr lang="en-US" altLang="zh-CN" sz="2000" i="1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sz="2000" i="1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𝑤𝑡</m:t>
                            </m:r>
                          </m:e>
                        </m:d>
                      </m:sup>
                    </m:sSup>
                  </m:oMath>
                </a14:m>
                <a:r>
                  <a:rPr lang="en-US" altLang="zh-CN" sz="2000" dirty="0"/>
                  <a:t>+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CN" sz="2000" dirty="0"/>
                      <m:t>A</m:t>
                    </m:r>
                    <m:sSup>
                      <m:sSup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𝑖</m:t>
                        </m:r>
                        <m:d>
                          <m:d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k</m:t>
                            </m:r>
                            <m:d>
                              <m:dPr>
                                <m:ctrlPr>
                                  <a:rPr lang="en-US" altLang="zh-CN" sz="200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𝛿</m:t>
                                </m:r>
                              </m:e>
                            </m:d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wt</m:t>
                            </m:r>
                          </m:e>
                        </m:d>
                      </m:sup>
                    </m:sSup>
                  </m:oMath>
                </a14:m>
                <a:r>
                  <a:rPr lang="en-US" altLang="zh-CN" sz="2000" dirty="0"/>
                  <a:t>=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CN" sz="2000" dirty="0"/>
                      <m:t>A</m:t>
                    </m:r>
                    <m:d>
                      <m:dPr>
                        <m:ctrlPr>
                          <a:rPr lang="en-US" altLang="zh-CN" sz="20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1+</m:t>
                        </m:r>
                        <m:sSup>
                          <m:sSup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m:rPr>
                                <m:sty m:val="p"/>
                              </m:r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k</m:t>
                            </m:r>
                            <m:r>
                              <a:rPr lang="en-US" altLang="zh-CN" sz="2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𝛿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altLang="zh-CN" sz="20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𝑖</m:t>
                        </m:r>
                        <m:d>
                          <m:d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𝑤𝑡</m:t>
                            </m:r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𝜆</m:t>
                            </m:r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sup>
                    </m:sSup>
                  </m:oMath>
                </a14:m>
                <a:endParaRPr lang="en-US" altLang="zh-CN" sz="2000" dirty="0"/>
              </a:p>
              <a:p>
                <a:r>
                  <a:rPr lang="zh-CN" altLang="en-US" sz="2000" dirty="0"/>
                  <a:t> </a:t>
                </a:r>
              </a:p>
            </p:txBody>
          </p:sp>
        </mc:Choice>
        <mc:Fallback xmlns=""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308F8ED8-B7A8-F145-AA1C-0A99CB2078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6782" y="1152187"/>
                <a:ext cx="5848635" cy="5392695"/>
              </a:xfrm>
              <a:prstGeom prst="rect">
                <a:avLst/>
              </a:prstGeom>
              <a:blipFill>
                <a:blip r:embed="rId9"/>
                <a:stretch>
                  <a:fillRect l="-1085" t="-4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文本框 44">
            <a:extLst>
              <a:ext uri="{FF2B5EF4-FFF2-40B4-BE49-F238E27FC236}">
                <a16:creationId xmlns:a16="http://schemas.microsoft.com/office/drawing/2014/main" id="{B2A9D050-22F4-531C-190D-E0FC1B840826}"/>
              </a:ext>
            </a:extLst>
          </p:cNvPr>
          <p:cNvSpPr txBox="1"/>
          <p:nvPr/>
        </p:nvSpPr>
        <p:spPr>
          <a:xfrm>
            <a:off x="684868" y="1391990"/>
            <a:ext cx="18668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CN" dirty="0"/>
              <a:t>P</a:t>
            </a:r>
            <a:r>
              <a:rPr lang="zh-CN" altLang="en-US" dirty="0"/>
              <a:t>hoton</a:t>
            </a:r>
            <a:r>
              <a:rPr lang="en-US" altLang="zh-CN" dirty="0"/>
              <a:t> 2</a:t>
            </a:r>
            <a:endParaRPr lang="zh-CN" altLang="en-US" dirty="0"/>
          </a:p>
        </p:txBody>
      </p:sp>
      <p:cxnSp>
        <p:nvCxnSpPr>
          <p:cNvPr id="47" name="直线箭头连接符 46">
            <a:extLst>
              <a:ext uri="{FF2B5EF4-FFF2-40B4-BE49-F238E27FC236}">
                <a16:creationId xmlns:a16="http://schemas.microsoft.com/office/drawing/2014/main" id="{EEC78DC3-819B-F525-496E-76BB3D845538}"/>
              </a:ext>
            </a:extLst>
          </p:cNvPr>
          <p:cNvCxnSpPr/>
          <p:nvPr/>
        </p:nvCxnSpPr>
        <p:spPr>
          <a:xfrm>
            <a:off x="9403464" y="5483532"/>
            <a:ext cx="260969" cy="3271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本框 47">
            <a:extLst>
              <a:ext uri="{FF2B5EF4-FFF2-40B4-BE49-F238E27FC236}">
                <a16:creationId xmlns:a16="http://schemas.microsoft.com/office/drawing/2014/main" id="{5AF20DDB-346C-D19E-0BEF-D98069D3A8FB}"/>
              </a:ext>
            </a:extLst>
          </p:cNvPr>
          <p:cNvSpPr txBox="1"/>
          <p:nvPr/>
        </p:nvSpPr>
        <p:spPr>
          <a:xfrm>
            <a:off x="8579653" y="5190417"/>
            <a:ext cx="18668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CN" dirty="0"/>
              <a:t>P</a:t>
            </a:r>
            <a:r>
              <a:rPr lang="zh-CN" altLang="en-US" dirty="0"/>
              <a:t>hoton</a:t>
            </a:r>
            <a:r>
              <a:rPr lang="en-US" altLang="zh-CN" dirty="0"/>
              <a:t> 1</a:t>
            </a:r>
            <a:endParaRPr lang="zh-CN" altLang="en-US" dirty="0"/>
          </a:p>
        </p:txBody>
      </p:sp>
      <p:cxnSp>
        <p:nvCxnSpPr>
          <p:cNvPr id="49" name="直线箭头连接符 48">
            <a:extLst>
              <a:ext uri="{FF2B5EF4-FFF2-40B4-BE49-F238E27FC236}">
                <a16:creationId xmlns:a16="http://schemas.microsoft.com/office/drawing/2014/main" id="{EB474984-719B-7F00-884B-A6B0619BA17A}"/>
              </a:ext>
            </a:extLst>
          </p:cNvPr>
          <p:cNvCxnSpPr>
            <a:cxnSpLocks/>
            <a:stCxn id="48" idx="3"/>
          </p:cNvCxnSpPr>
          <p:nvPr/>
        </p:nvCxnSpPr>
        <p:spPr>
          <a:xfrm flipH="1">
            <a:off x="10320070" y="5375083"/>
            <a:ext cx="126433" cy="4356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文本框 52">
            <a:extLst>
              <a:ext uri="{FF2B5EF4-FFF2-40B4-BE49-F238E27FC236}">
                <a16:creationId xmlns:a16="http://schemas.microsoft.com/office/drawing/2014/main" id="{33CF3FBB-4E15-9673-AEC0-90891E522547}"/>
              </a:ext>
            </a:extLst>
          </p:cNvPr>
          <p:cNvSpPr txBox="1"/>
          <p:nvPr/>
        </p:nvSpPr>
        <p:spPr>
          <a:xfrm>
            <a:off x="10029202" y="5126410"/>
            <a:ext cx="18668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CN" dirty="0"/>
              <a:t>P</a:t>
            </a:r>
            <a:r>
              <a:rPr lang="zh-CN" altLang="en-US" dirty="0"/>
              <a:t>hoton</a:t>
            </a:r>
            <a:r>
              <a:rPr lang="en-US" altLang="zh-CN" dirty="0"/>
              <a:t> 2</a:t>
            </a:r>
            <a:endParaRPr lang="zh-CN" altLang="en-US" dirty="0"/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9890CE21-FDEB-0681-BCBA-E777EC83D5A1}"/>
              </a:ext>
            </a:extLst>
          </p:cNvPr>
          <p:cNvSpPr/>
          <p:nvPr/>
        </p:nvSpPr>
        <p:spPr>
          <a:xfrm>
            <a:off x="9302690" y="5761689"/>
            <a:ext cx="1407909" cy="416110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文本框 55">
                <a:extLst>
                  <a:ext uri="{FF2B5EF4-FFF2-40B4-BE49-F238E27FC236}">
                    <a16:creationId xmlns:a16="http://schemas.microsoft.com/office/drawing/2014/main" id="{BF8B8C8C-49C1-A57C-F4EA-C47FA0240C18}"/>
                  </a:ext>
                </a:extLst>
              </p:cNvPr>
              <p:cNvSpPr txBox="1"/>
              <p:nvPr/>
            </p:nvSpPr>
            <p:spPr>
              <a:xfrm>
                <a:off x="9455438" y="6267242"/>
                <a:ext cx="1537570" cy="4405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US" altLang="zh-CN" sz="1800" i="1" dirty="0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𝑝𝑟𝑜𝑏𝑎𝑏𝑖𝑙𝑖𝑡𝑦</m:t>
                          </m:r>
                        </m:e>
                      </m:ra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6" name="文本框 55">
                <a:extLst>
                  <a:ext uri="{FF2B5EF4-FFF2-40B4-BE49-F238E27FC236}">
                    <a16:creationId xmlns:a16="http://schemas.microsoft.com/office/drawing/2014/main" id="{BF8B8C8C-49C1-A57C-F4EA-C47FA0240C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55438" y="6267242"/>
                <a:ext cx="1537570" cy="440505"/>
              </a:xfrm>
              <a:prstGeom prst="rect">
                <a:avLst/>
              </a:prstGeom>
              <a:blipFill>
                <a:blip r:embed="rId10"/>
                <a:stretch>
                  <a:fillRect r="-820" b="-85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" name="文本框 56">
            <a:extLst>
              <a:ext uri="{FF2B5EF4-FFF2-40B4-BE49-F238E27FC236}">
                <a16:creationId xmlns:a16="http://schemas.microsoft.com/office/drawing/2014/main" id="{281C2CD3-20F2-67D3-3ACE-78377F139273}"/>
              </a:ext>
            </a:extLst>
          </p:cNvPr>
          <p:cNvSpPr txBox="1"/>
          <p:nvPr/>
        </p:nvSpPr>
        <p:spPr>
          <a:xfrm>
            <a:off x="2745244" y="982183"/>
            <a:ext cx="17438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CN" dirty="0"/>
              <a:t>elastic collision</a:t>
            </a:r>
            <a:endParaRPr lang="zh-CN" altLang="en-US" dirty="0"/>
          </a:p>
        </p:txBody>
      </p:sp>
      <p:sp>
        <p:nvSpPr>
          <p:cNvPr id="4" name="文本框 2">
            <a:extLst>
              <a:ext uri="{FF2B5EF4-FFF2-40B4-BE49-F238E27FC236}">
                <a16:creationId xmlns:a16="http://schemas.microsoft.com/office/drawing/2014/main" id="{D1EDA0BC-2101-9593-6A13-9FAFDAB00FE4}"/>
              </a:ext>
            </a:extLst>
          </p:cNvPr>
          <p:cNvSpPr txBox="1"/>
          <p:nvPr/>
        </p:nvSpPr>
        <p:spPr>
          <a:xfrm>
            <a:off x="180919" y="209490"/>
            <a:ext cx="614449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chemeClr val="accent1">
                    <a:lumMod val="50000"/>
                  </a:schemeClr>
                </a:solidFill>
              </a:rPr>
              <a:t>Xray interaction with matter</a:t>
            </a:r>
            <a:endParaRPr lang="en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9E7F9C-8596-671B-E128-5110D1263F78}"/>
              </a:ext>
            </a:extLst>
          </p:cNvPr>
          <p:cNvSpPr txBox="1"/>
          <p:nvPr/>
        </p:nvSpPr>
        <p:spPr>
          <a:xfrm>
            <a:off x="684868" y="4199320"/>
            <a:ext cx="26773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2000" b="1" dirty="0">
                <a:solidFill>
                  <a:schemeClr val="accent1"/>
                </a:solidFill>
              </a:rPr>
              <a:t>X-ray Diffraction</a:t>
            </a:r>
            <a:r>
              <a:rPr lang="zh-CN" altLang="en-US" sz="2000" b="1" dirty="0">
                <a:solidFill>
                  <a:schemeClr val="accent1"/>
                </a:solidFill>
              </a:rPr>
              <a:t> </a:t>
            </a:r>
            <a:r>
              <a:rPr lang="en-CN" sz="2000" dirty="0">
                <a:solidFill>
                  <a:schemeClr val="accent1"/>
                </a:solidFill>
              </a:rPr>
              <a:t>(XRD)</a:t>
            </a:r>
            <a:r>
              <a:rPr lang="zh-CN" altLang="en-US" sz="2000" dirty="0">
                <a:solidFill>
                  <a:schemeClr val="accent1"/>
                </a:solidFill>
              </a:rPr>
              <a:t> </a:t>
            </a:r>
            <a:r>
              <a:rPr lang="en-CN" sz="2000" dirty="0">
                <a:solidFill>
                  <a:schemeClr val="accent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731732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1">
            <a:extLst>
              <a:ext uri="{FF2B5EF4-FFF2-40B4-BE49-F238E27FC236}">
                <a16:creationId xmlns:a16="http://schemas.microsoft.com/office/drawing/2014/main" id="{DEAF3D93-C0AC-FAC9-9EBF-9F99D30F6174}"/>
              </a:ext>
            </a:extLst>
          </p:cNvPr>
          <p:cNvSpPr txBox="1">
            <a:spLocks/>
          </p:cNvSpPr>
          <p:nvPr/>
        </p:nvSpPr>
        <p:spPr bwMode="auto">
          <a:xfrm>
            <a:off x="10880725" y="6475942"/>
            <a:ext cx="1311275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rtlCol="0" anchor="ctr" anchorCtr="0" compatLnSpc="1"/>
          <a:lstStyle>
            <a:defPPr>
              <a:defRPr lang="zh-CN"/>
            </a:defPPr>
            <a:lvl1pPr marL="0" algn="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b="1" i="1" kern="1200" smtClean="0">
                <a:solidFill>
                  <a:srgbClr val="FFFFFF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Calibri" panose="020F0502020204030204" pitchFamily="34" charset="0"/>
              </a:defRPr>
            </a:lvl1pPr>
            <a:lvl2pPr marL="4572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  <a:sym typeface="Calibri" panose="020F0502020204030204" pitchFamily="34" charset="0"/>
              </a:defRPr>
            </a:lvl2pPr>
            <a:lvl3pPr marL="911225" indent="3175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  <a:sym typeface="Calibri" panose="020F0502020204030204" pitchFamily="34" charset="0"/>
              </a:defRPr>
            </a:lvl3pPr>
            <a:lvl4pPr marL="1368425" indent="3175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  <a:sym typeface="Calibri" panose="020F0502020204030204" pitchFamily="34" charset="0"/>
              </a:defRPr>
            </a:lvl4pPr>
            <a:lvl5pPr marL="1825625" indent="3175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  <a:sym typeface="Calibri" panose="020F0502020204030204" pitchFamily="34" charset="0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  <a:sym typeface="Calibri" panose="020F0502020204030204" pitchFamily="34" charset="0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  <a:sym typeface="Calibri" panose="020F0502020204030204" pitchFamily="34" charset="0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  <a:sym typeface="Calibri" panose="020F0502020204030204" pitchFamily="34" charset="0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  <a:sym typeface="Calibri" panose="020F0502020204030204" pitchFamily="34" charset="0"/>
              </a:defRPr>
            </a:lvl9pPr>
          </a:lstStyle>
          <a:p>
            <a:fld id="{30055C4C-D7A3-431C-BDD5-E6EB3A7AC7E0}" type="slidenum">
              <a:rPr lang="zh-CN" altLang="en-US" smtClean="0">
                <a:solidFill>
                  <a:schemeClr val="tx1"/>
                </a:solidFill>
              </a:rPr>
              <a:pPr/>
              <a:t>3</a:t>
            </a:fld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2" name="直线连接符 1">
            <a:extLst>
              <a:ext uri="{FF2B5EF4-FFF2-40B4-BE49-F238E27FC236}">
                <a16:creationId xmlns:a16="http://schemas.microsoft.com/office/drawing/2014/main" id="{F5117E32-9F62-65D6-5C7E-8BACBFBF3E2F}"/>
              </a:ext>
            </a:extLst>
          </p:cNvPr>
          <p:cNvCxnSpPr/>
          <p:nvPr/>
        </p:nvCxnSpPr>
        <p:spPr>
          <a:xfrm>
            <a:off x="0" y="609600"/>
            <a:ext cx="12192000" cy="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6A524ED1-BF36-AFA2-F814-03C5169F2A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5888" y="1350109"/>
            <a:ext cx="4954411" cy="386444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6B7A1AD9-21A9-AAAF-2DCD-CDFC315934A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795" y="1535836"/>
            <a:ext cx="4488729" cy="3612231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9E3F9C2F-850F-2B70-3910-A304E426D4B9}"/>
              </a:ext>
            </a:extLst>
          </p:cNvPr>
          <p:cNvSpPr txBox="1"/>
          <p:nvPr/>
        </p:nvSpPr>
        <p:spPr>
          <a:xfrm>
            <a:off x="180919" y="209490"/>
            <a:ext cx="614449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chemeClr val="accent1">
                    <a:lumMod val="50000"/>
                  </a:schemeClr>
                </a:solidFill>
              </a:rPr>
              <a:t>Xray interaction with matter</a:t>
            </a:r>
            <a:endParaRPr lang="en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69FF64-B487-EF60-7667-CFF71D7C5298}"/>
              </a:ext>
            </a:extLst>
          </p:cNvPr>
          <p:cNvSpPr txBox="1"/>
          <p:nvPr/>
        </p:nvSpPr>
        <p:spPr>
          <a:xfrm>
            <a:off x="1301732" y="5400170"/>
            <a:ext cx="18069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2400" dirty="0"/>
              <a:t>E</a:t>
            </a:r>
            <a:r>
              <a:rPr lang="en-CN" sz="2400" baseline="-25000" dirty="0"/>
              <a:t>in</a:t>
            </a:r>
            <a:r>
              <a:rPr lang="en-CN" sz="2400" dirty="0"/>
              <a:t> = E</a:t>
            </a:r>
            <a:r>
              <a:rPr lang="en-CN" sz="2400" baseline="-25000" dirty="0"/>
              <a:t>e</a:t>
            </a:r>
            <a:r>
              <a:rPr lang="en-CN" sz="2400" dirty="0"/>
              <a:t> + E</a:t>
            </a:r>
            <a:r>
              <a:rPr lang="en-CN" sz="2400" baseline="-25000" dirty="0"/>
              <a:t>out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9EF55DA-1B1A-EBAC-0449-716931B9095C}"/>
              </a:ext>
            </a:extLst>
          </p:cNvPr>
          <p:cNvSpPr txBox="1"/>
          <p:nvPr/>
        </p:nvSpPr>
        <p:spPr>
          <a:xfrm>
            <a:off x="0" y="3020810"/>
            <a:ext cx="17867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</a:t>
            </a:r>
            <a:r>
              <a:rPr lang="en-CN" dirty="0"/>
              <a:t>ncoming photon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BBFCF0-80D8-4C50-8D18-5734818FE9B2}"/>
              </a:ext>
            </a:extLst>
          </p:cNvPr>
          <p:cNvSpPr txBox="1"/>
          <p:nvPr/>
        </p:nvSpPr>
        <p:spPr>
          <a:xfrm>
            <a:off x="1259092" y="6146688"/>
            <a:ext cx="44887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2000" b="1" dirty="0">
                <a:solidFill>
                  <a:schemeClr val="accent1"/>
                </a:solidFill>
              </a:rPr>
              <a:t>X-ray Photoelectron Spectroscopy </a:t>
            </a:r>
            <a:r>
              <a:rPr lang="en-CN" sz="2000" dirty="0">
                <a:solidFill>
                  <a:schemeClr val="accent1"/>
                </a:solidFill>
              </a:rPr>
              <a:t>(XPS)</a:t>
            </a:r>
            <a:r>
              <a:rPr lang="zh-CN" altLang="en-US" sz="2000" dirty="0">
                <a:solidFill>
                  <a:schemeClr val="accent1"/>
                </a:solidFill>
              </a:rPr>
              <a:t> </a:t>
            </a:r>
            <a:r>
              <a:rPr lang="en-CN" sz="2000" dirty="0">
                <a:solidFill>
                  <a:schemeClr val="accent1"/>
                </a:solidFill>
              </a:rPr>
              <a:t>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1A372A3-5CE1-18A8-35BF-FFF8195FD424}"/>
              </a:ext>
            </a:extLst>
          </p:cNvPr>
          <p:cNvSpPr txBox="1"/>
          <p:nvPr/>
        </p:nvSpPr>
        <p:spPr>
          <a:xfrm>
            <a:off x="3916725" y="5121708"/>
            <a:ext cx="23915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Ejected</a:t>
            </a:r>
            <a:r>
              <a:rPr lang="en-CN" dirty="0"/>
              <a:t> photonelectron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82F963C-359D-E929-C4A3-3F53C6B63820}"/>
              </a:ext>
            </a:extLst>
          </p:cNvPr>
          <p:cNvSpPr txBox="1"/>
          <p:nvPr/>
        </p:nvSpPr>
        <p:spPr>
          <a:xfrm>
            <a:off x="3582564" y="1192863"/>
            <a:ext cx="27685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Jump from L-shell to K-shell</a:t>
            </a:r>
            <a:endParaRPr lang="en-CN" dirty="0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8A17B0B5-8721-8ABB-B9B2-0D79902231C1}"/>
              </a:ext>
            </a:extLst>
          </p:cNvPr>
          <p:cNvCxnSpPr/>
          <p:nvPr/>
        </p:nvCxnSpPr>
        <p:spPr>
          <a:xfrm flipH="1">
            <a:off x="8699157" y="3205476"/>
            <a:ext cx="1433384" cy="2285564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462F172B-DC6D-8901-06C8-A797D0A39817}"/>
              </a:ext>
            </a:extLst>
          </p:cNvPr>
          <p:cNvSpPr txBox="1"/>
          <p:nvPr/>
        </p:nvSpPr>
        <p:spPr>
          <a:xfrm>
            <a:off x="6425220" y="5838912"/>
            <a:ext cx="428904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/>
              <a:t>F</a:t>
            </a:r>
            <a:r>
              <a:rPr lang="en-CN" sz="2000" dirty="0"/>
              <a:t>luorescence</a:t>
            </a:r>
          </a:p>
          <a:p>
            <a:r>
              <a:rPr lang="en-CN" sz="2000" b="1" dirty="0">
                <a:solidFill>
                  <a:schemeClr val="accent1"/>
                </a:solidFill>
              </a:rPr>
              <a:t>X-ray fluorescence Spectroscopy </a:t>
            </a:r>
            <a:r>
              <a:rPr lang="en-CN" sz="2000" dirty="0">
                <a:solidFill>
                  <a:schemeClr val="accent1"/>
                </a:solidFill>
              </a:rPr>
              <a:t>(XRF)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1764F5D-BB41-85FF-3B27-C7540A87C04F}"/>
              </a:ext>
            </a:extLst>
          </p:cNvPr>
          <p:cNvSpPr txBox="1"/>
          <p:nvPr/>
        </p:nvSpPr>
        <p:spPr>
          <a:xfrm>
            <a:off x="7519057" y="637021"/>
            <a:ext cx="422124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/>
              <a:t>Auger electron</a:t>
            </a:r>
            <a:r>
              <a:rPr lang="zh-CN" altLang="en-US" sz="2000" dirty="0"/>
              <a:t> </a:t>
            </a:r>
            <a:endParaRPr lang="en-CN" sz="2000" dirty="0"/>
          </a:p>
          <a:p>
            <a:r>
              <a:rPr lang="en-US" sz="2000" b="1" dirty="0">
                <a:solidFill>
                  <a:schemeClr val="accent1"/>
                </a:solidFill>
              </a:rPr>
              <a:t>Auger electron</a:t>
            </a:r>
            <a:r>
              <a:rPr lang="zh-CN" altLang="en-US" sz="2000" b="1" dirty="0">
                <a:solidFill>
                  <a:schemeClr val="accent1"/>
                </a:solidFill>
              </a:rPr>
              <a:t> </a:t>
            </a:r>
            <a:r>
              <a:rPr lang="en-CN" sz="2000" b="1" dirty="0">
                <a:solidFill>
                  <a:schemeClr val="accent1"/>
                </a:solidFill>
              </a:rPr>
              <a:t>Spectroscopy </a:t>
            </a:r>
            <a:r>
              <a:rPr lang="en-CN" sz="2000" dirty="0">
                <a:solidFill>
                  <a:schemeClr val="accent1"/>
                </a:solidFill>
              </a:rPr>
              <a:t>(AES)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17187CA3-65B9-410B-2908-8F8CA7763FBA}"/>
              </a:ext>
            </a:extLst>
          </p:cNvPr>
          <p:cNvCxnSpPr>
            <a:cxnSpLocks/>
          </p:cNvCxnSpPr>
          <p:nvPr/>
        </p:nvCxnSpPr>
        <p:spPr>
          <a:xfrm flipH="1" flipV="1">
            <a:off x="10567350" y="1377529"/>
            <a:ext cx="759494" cy="90868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0188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1">
            <a:extLst>
              <a:ext uri="{FF2B5EF4-FFF2-40B4-BE49-F238E27FC236}">
                <a16:creationId xmlns:a16="http://schemas.microsoft.com/office/drawing/2014/main" id="{DEAF3D93-C0AC-FAC9-9EBF-9F99D30F6174}"/>
              </a:ext>
            </a:extLst>
          </p:cNvPr>
          <p:cNvSpPr txBox="1">
            <a:spLocks/>
          </p:cNvSpPr>
          <p:nvPr/>
        </p:nvSpPr>
        <p:spPr bwMode="auto">
          <a:xfrm>
            <a:off x="10880725" y="6475942"/>
            <a:ext cx="1311275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rtlCol="0" anchor="ctr" anchorCtr="0" compatLnSpc="1"/>
          <a:lstStyle>
            <a:defPPr>
              <a:defRPr lang="zh-CN"/>
            </a:defPPr>
            <a:lvl1pPr marL="0" algn="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b="1" i="1" kern="1200" smtClean="0">
                <a:solidFill>
                  <a:srgbClr val="FFFFFF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Calibri" panose="020F0502020204030204" pitchFamily="34" charset="0"/>
              </a:defRPr>
            </a:lvl1pPr>
            <a:lvl2pPr marL="4572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  <a:sym typeface="Calibri" panose="020F0502020204030204" pitchFamily="34" charset="0"/>
              </a:defRPr>
            </a:lvl2pPr>
            <a:lvl3pPr marL="911225" indent="3175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  <a:sym typeface="Calibri" panose="020F0502020204030204" pitchFamily="34" charset="0"/>
              </a:defRPr>
            </a:lvl3pPr>
            <a:lvl4pPr marL="1368425" indent="3175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  <a:sym typeface="Calibri" panose="020F0502020204030204" pitchFamily="34" charset="0"/>
              </a:defRPr>
            </a:lvl4pPr>
            <a:lvl5pPr marL="1825625" indent="3175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  <a:sym typeface="Calibri" panose="020F0502020204030204" pitchFamily="34" charset="0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  <a:sym typeface="Calibri" panose="020F0502020204030204" pitchFamily="34" charset="0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  <a:sym typeface="Calibri" panose="020F0502020204030204" pitchFamily="34" charset="0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  <a:sym typeface="Calibri" panose="020F0502020204030204" pitchFamily="34" charset="0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  <a:sym typeface="Calibri" panose="020F0502020204030204" pitchFamily="34" charset="0"/>
              </a:defRPr>
            </a:lvl9pPr>
          </a:lstStyle>
          <a:p>
            <a:fld id="{30055C4C-D7A3-431C-BDD5-E6EB3A7AC7E0}" type="slidenum">
              <a:rPr lang="zh-CN" altLang="en-US" smtClean="0">
                <a:solidFill>
                  <a:schemeClr val="tx1"/>
                </a:solidFill>
              </a:rPr>
              <a:pPr/>
              <a:t>4</a:t>
            </a:fld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2" name="直线连接符 1">
            <a:extLst>
              <a:ext uri="{FF2B5EF4-FFF2-40B4-BE49-F238E27FC236}">
                <a16:creationId xmlns:a16="http://schemas.microsoft.com/office/drawing/2014/main" id="{F5117E32-9F62-65D6-5C7E-8BACBFBF3E2F}"/>
              </a:ext>
            </a:extLst>
          </p:cNvPr>
          <p:cNvCxnSpPr/>
          <p:nvPr/>
        </p:nvCxnSpPr>
        <p:spPr>
          <a:xfrm>
            <a:off x="0" y="609600"/>
            <a:ext cx="12192000" cy="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9E3F9C2F-850F-2B70-3910-A304E426D4B9}"/>
              </a:ext>
            </a:extLst>
          </p:cNvPr>
          <p:cNvSpPr txBox="1"/>
          <p:nvPr/>
        </p:nvSpPr>
        <p:spPr>
          <a:xfrm>
            <a:off x="180919" y="209490"/>
            <a:ext cx="614449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chemeClr val="accent1">
                    <a:lumMod val="50000"/>
                  </a:schemeClr>
                </a:solidFill>
              </a:rPr>
              <a:t>Xray interaction with matter</a:t>
            </a:r>
            <a:endParaRPr lang="en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E09502C-C4DF-6F13-DA75-923223CA1C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251" y="1504950"/>
            <a:ext cx="3943327" cy="192403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948C378-A1B0-0DC5-92CA-EFE0005AD30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0307" y="3561306"/>
            <a:ext cx="3836306" cy="308720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7F4456A-9720-048C-FFEC-11DE2444F44A}"/>
              </a:ext>
            </a:extLst>
          </p:cNvPr>
          <p:cNvSpPr txBox="1"/>
          <p:nvPr/>
        </p:nvSpPr>
        <p:spPr>
          <a:xfrm>
            <a:off x="1198606" y="5329078"/>
            <a:ext cx="12721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</a:t>
            </a:r>
            <a:r>
              <a:rPr lang="en-CN" dirty="0"/>
              <a:t>ncoming photon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C4A1622-8D40-464C-6B8C-FE41F61C7122}"/>
              </a:ext>
            </a:extLst>
          </p:cNvPr>
          <p:cNvSpPr txBox="1"/>
          <p:nvPr/>
        </p:nvSpPr>
        <p:spPr>
          <a:xfrm>
            <a:off x="4781171" y="6062354"/>
            <a:ext cx="17027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Ejected</a:t>
            </a:r>
            <a:r>
              <a:rPr lang="en-CN" dirty="0"/>
              <a:t> photonelectron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1B43F5D-688C-AFF1-2B61-63BE1BD68856}"/>
              </a:ext>
            </a:extLst>
          </p:cNvPr>
          <p:cNvSpPr txBox="1"/>
          <p:nvPr/>
        </p:nvSpPr>
        <p:spPr>
          <a:xfrm>
            <a:off x="4781171" y="3501131"/>
            <a:ext cx="19711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Jump from L-shell to K-shell</a:t>
            </a:r>
            <a:endParaRPr lang="en-CN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0C427F2-D27D-5795-EBD5-3F2249FCFC6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88049" y="1009711"/>
            <a:ext cx="2977841" cy="3145135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67D8778-29DA-A4C8-95F7-19CC33B59B2C}"/>
              </a:ext>
            </a:extLst>
          </p:cNvPr>
          <p:cNvCxnSpPr>
            <a:cxnSpLocks/>
          </p:cNvCxnSpPr>
          <p:nvPr/>
        </p:nvCxnSpPr>
        <p:spPr>
          <a:xfrm flipH="1" flipV="1">
            <a:off x="7668424" y="1791730"/>
            <a:ext cx="1586787" cy="129745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D9F993B9-946A-744F-22CD-76DCDB305F75}"/>
              </a:ext>
            </a:extLst>
          </p:cNvPr>
          <p:cNvSpPr txBox="1"/>
          <p:nvPr/>
        </p:nvSpPr>
        <p:spPr>
          <a:xfrm>
            <a:off x="7258949" y="5109625"/>
            <a:ext cx="3992524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2000" b="1" dirty="0">
                <a:solidFill>
                  <a:schemeClr val="accent1"/>
                </a:solidFill>
              </a:rPr>
              <a:t>Xray Absorbation Fine structure </a:t>
            </a:r>
            <a:r>
              <a:rPr lang="en-CN" sz="2000" dirty="0">
                <a:solidFill>
                  <a:schemeClr val="accent1"/>
                </a:solidFill>
              </a:rPr>
              <a:t>(XAFS)</a:t>
            </a:r>
            <a:r>
              <a:rPr lang="zh-CN" altLang="en-US" sz="2000" dirty="0">
                <a:solidFill>
                  <a:schemeClr val="accent1"/>
                </a:solidFill>
              </a:rPr>
              <a:t> </a:t>
            </a:r>
            <a:endParaRPr lang="en-US" altLang="zh-CN" sz="2000" dirty="0">
              <a:solidFill>
                <a:schemeClr val="accent1"/>
              </a:solidFill>
            </a:endParaRPr>
          </a:p>
          <a:p>
            <a:r>
              <a:rPr lang="zh-CN" altLang="en-US" sz="2000" dirty="0"/>
              <a:t> </a:t>
            </a:r>
            <a:endParaRPr lang="en-US" altLang="zh-CN" sz="2000" dirty="0"/>
          </a:p>
          <a:p>
            <a:r>
              <a:rPr lang="en-US" altLang="zh-CN" sz="2000" dirty="0"/>
              <a:t>the</a:t>
            </a:r>
            <a:r>
              <a:rPr lang="zh-CN" altLang="en-US" sz="2000" dirty="0"/>
              <a:t> </a:t>
            </a:r>
            <a:r>
              <a:rPr lang="en-US" altLang="zh-CN" sz="2000" dirty="0"/>
              <a:t>oscillation is</a:t>
            </a:r>
            <a:r>
              <a:rPr lang="zh-CN" altLang="en-US" sz="2000" dirty="0"/>
              <a:t> </a:t>
            </a:r>
            <a:r>
              <a:rPr lang="en-US" altLang="zh-CN" sz="2000" dirty="0"/>
              <a:t>induced</a:t>
            </a:r>
            <a:r>
              <a:rPr lang="zh-CN" altLang="en-US" sz="2000" dirty="0"/>
              <a:t> </a:t>
            </a:r>
            <a:r>
              <a:rPr lang="en-US" altLang="zh-CN" sz="2000" dirty="0"/>
              <a:t>by the wave property of  photoelectrons </a:t>
            </a:r>
          </a:p>
          <a:p>
            <a:endParaRPr lang="en-CN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C245E844-DDDC-E580-928A-1B3058523D4C}"/>
              </a:ext>
            </a:extLst>
          </p:cNvPr>
          <p:cNvCxnSpPr>
            <a:cxnSpLocks/>
          </p:cNvCxnSpPr>
          <p:nvPr/>
        </p:nvCxnSpPr>
        <p:spPr>
          <a:xfrm>
            <a:off x="8321629" y="4282554"/>
            <a:ext cx="111067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15691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E19335C-61C5-C286-C276-8DBCBE382C7C}"/>
              </a:ext>
            </a:extLst>
          </p:cNvPr>
          <p:cNvSpPr txBox="1">
            <a:spLocks/>
          </p:cNvSpPr>
          <p:nvPr/>
        </p:nvSpPr>
        <p:spPr bwMode="auto">
          <a:xfrm>
            <a:off x="10880725" y="6475942"/>
            <a:ext cx="1311275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rtlCol="0" anchor="ctr" anchorCtr="0" compatLnSpc="1"/>
          <a:lstStyle>
            <a:defPPr>
              <a:defRPr lang="zh-CN"/>
            </a:defPPr>
            <a:lvl1pPr marL="0" algn="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b="1" i="1" kern="1200" smtClean="0">
                <a:solidFill>
                  <a:srgbClr val="FFFFFF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Calibri" panose="020F0502020204030204" pitchFamily="34" charset="0"/>
              </a:defRPr>
            </a:lvl1pPr>
            <a:lvl2pPr marL="4572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  <a:sym typeface="Calibri" panose="020F0502020204030204" pitchFamily="34" charset="0"/>
              </a:defRPr>
            </a:lvl2pPr>
            <a:lvl3pPr marL="911225" indent="3175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  <a:sym typeface="Calibri" panose="020F0502020204030204" pitchFamily="34" charset="0"/>
              </a:defRPr>
            </a:lvl3pPr>
            <a:lvl4pPr marL="1368425" indent="3175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  <a:sym typeface="Calibri" panose="020F0502020204030204" pitchFamily="34" charset="0"/>
              </a:defRPr>
            </a:lvl4pPr>
            <a:lvl5pPr marL="1825625" indent="3175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  <a:sym typeface="Calibri" panose="020F0502020204030204" pitchFamily="34" charset="0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  <a:sym typeface="Calibri" panose="020F0502020204030204" pitchFamily="34" charset="0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  <a:sym typeface="Calibri" panose="020F0502020204030204" pitchFamily="34" charset="0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  <a:sym typeface="Calibri" panose="020F0502020204030204" pitchFamily="34" charset="0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  <a:sym typeface="Calibri" panose="020F0502020204030204" pitchFamily="34" charset="0"/>
              </a:defRPr>
            </a:lvl9pPr>
          </a:lstStyle>
          <a:p>
            <a:fld id="{30055C4C-D7A3-431C-BDD5-E6EB3A7AC7E0}" type="slidenum">
              <a:rPr lang="zh-CN" altLang="en-US" smtClean="0">
                <a:solidFill>
                  <a:schemeClr val="tx1"/>
                </a:solidFill>
              </a:rPr>
              <a:pPr/>
              <a:t>5</a:t>
            </a:fld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3" name="直线连接符 2">
            <a:extLst>
              <a:ext uri="{FF2B5EF4-FFF2-40B4-BE49-F238E27FC236}">
                <a16:creationId xmlns:a16="http://schemas.microsoft.com/office/drawing/2014/main" id="{237BD34B-AE87-E89C-1CE1-F4AFFCBE120B}"/>
              </a:ext>
            </a:extLst>
          </p:cNvPr>
          <p:cNvCxnSpPr/>
          <p:nvPr/>
        </p:nvCxnSpPr>
        <p:spPr>
          <a:xfrm>
            <a:off x="0" y="609600"/>
            <a:ext cx="12192000" cy="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4" name="文本框 2">
            <a:extLst>
              <a:ext uri="{FF2B5EF4-FFF2-40B4-BE49-F238E27FC236}">
                <a16:creationId xmlns:a16="http://schemas.microsoft.com/office/drawing/2014/main" id="{11B48A9A-FEAB-0695-1D9B-C24BEF2EAEB7}"/>
              </a:ext>
            </a:extLst>
          </p:cNvPr>
          <p:cNvSpPr txBox="1"/>
          <p:nvPr/>
        </p:nvSpPr>
        <p:spPr>
          <a:xfrm>
            <a:off x="180919" y="209490"/>
            <a:ext cx="614449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chemeClr val="accent1">
                    <a:lumMod val="50000"/>
                  </a:schemeClr>
                </a:solidFill>
              </a:rPr>
              <a:t>Xray Spectrograph and </a:t>
            </a:r>
            <a:r>
              <a:rPr lang="en-US" sz="2000" dirty="0">
                <a:solidFill>
                  <a:schemeClr val="accent1">
                    <a:lumMod val="50000"/>
                  </a:schemeClr>
                </a:solidFill>
              </a:rPr>
              <a:t>crystallography : XPS &amp; AES</a:t>
            </a:r>
            <a:endParaRPr lang="en" altLang="zh-CN" sz="2000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897D10-B8D3-0804-2F69-A59D0489E8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57302"/>
            <a:ext cx="7520396" cy="44268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7E703CA-6090-9AB9-B841-23EBAD6FE76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282" y="2545960"/>
            <a:ext cx="2992637" cy="241792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DC95D68-9645-F446-E503-A0FBA1069A99}"/>
              </a:ext>
            </a:extLst>
          </p:cNvPr>
          <p:cNvSpPr txBox="1"/>
          <p:nvPr/>
        </p:nvSpPr>
        <p:spPr>
          <a:xfrm>
            <a:off x="753762" y="5736624"/>
            <a:ext cx="10951798" cy="8735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photoelectron and the accompanying Auger electron appear at the same point, that is, they jump out of an atom at the same time.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has strong fingerprint properties and can be used for elemental and valence state analysis.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 descr="Diagram of a machine with text and diagrams&#10;&#10;Description automatically generated with medium confidence">
            <a:extLst>
              <a:ext uri="{FF2B5EF4-FFF2-40B4-BE49-F238E27FC236}">
                <a16:creationId xmlns:a16="http://schemas.microsoft.com/office/drawing/2014/main" id="{CAEB5F86-E2D8-E00B-1B7B-12C0E803EDD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1144" y="947896"/>
            <a:ext cx="3535218" cy="4099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04345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E19335C-61C5-C286-C276-8DBCBE382C7C}"/>
              </a:ext>
            </a:extLst>
          </p:cNvPr>
          <p:cNvSpPr txBox="1">
            <a:spLocks/>
          </p:cNvSpPr>
          <p:nvPr/>
        </p:nvSpPr>
        <p:spPr bwMode="auto">
          <a:xfrm>
            <a:off x="10880725" y="6475942"/>
            <a:ext cx="1311275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rtlCol="0" anchor="ctr" anchorCtr="0" compatLnSpc="1"/>
          <a:lstStyle>
            <a:defPPr>
              <a:defRPr lang="zh-CN"/>
            </a:defPPr>
            <a:lvl1pPr marL="0" algn="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b="1" i="1" kern="1200" smtClean="0">
                <a:solidFill>
                  <a:srgbClr val="FFFFFF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Calibri" panose="020F0502020204030204" pitchFamily="34" charset="0"/>
              </a:defRPr>
            </a:lvl1pPr>
            <a:lvl2pPr marL="4572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  <a:sym typeface="Calibri" panose="020F0502020204030204" pitchFamily="34" charset="0"/>
              </a:defRPr>
            </a:lvl2pPr>
            <a:lvl3pPr marL="911225" indent="3175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  <a:sym typeface="Calibri" panose="020F0502020204030204" pitchFamily="34" charset="0"/>
              </a:defRPr>
            </a:lvl3pPr>
            <a:lvl4pPr marL="1368425" indent="3175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  <a:sym typeface="Calibri" panose="020F0502020204030204" pitchFamily="34" charset="0"/>
              </a:defRPr>
            </a:lvl4pPr>
            <a:lvl5pPr marL="1825625" indent="3175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  <a:sym typeface="Calibri" panose="020F0502020204030204" pitchFamily="34" charset="0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  <a:sym typeface="Calibri" panose="020F0502020204030204" pitchFamily="34" charset="0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  <a:sym typeface="Calibri" panose="020F0502020204030204" pitchFamily="34" charset="0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  <a:sym typeface="Calibri" panose="020F0502020204030204" pitchFamily="34" charset="0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  <a:sym typeface="Calibri" panose="020F0502020204030204" pitchFamily="34" charset="0"/>
              </a:defRPr>
            </a:lvl9pPr>
          </a:lstStyle>
          <a:p>
            <a:fld id="{30055C4C-D7A3-431C-BDD5-E6EB3A7AC7E0}" type="slidenum">
              <a:rPr lang="zh-CN" altLang="en-US" smtClean="0">
                <a:solidFill>
                  <a:schemeClr val="tx1"/>
                </a:solidFill>
              </a:rPr>
              <a:pPr/>
              <a:t>6</a:t>
            </a:fld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3" name="直线连接符 2">
            <a:extLst>
              <a:ext uri="{FF2B5EF4-FFF2-40B4-BE49-F238E27FC236}">
                <a16:creationId xmlns:a16="http://schemas.microsoft.com/office/drawing/2014/main" id="{237BD34B-AE87-E89C-1CE1-F4AFFCBE120B}"/>
              </a:ext>
            </a:extLst>
          </p:cNvPr>
          <p:cNvCxnSpPr/>
          <p:nvPr/>
        </p:nvCxnSpPr>
        <p:spPr>
          <a:xfrm>
            <a:off x="0" y="609600"/>
            <a:ext cx="12192000" cy="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4" name="文本框 2">
            <a:extLst>
              <a:ext uri="{FF2B5EF4-FFF2-40B4-BE49-F238E27FC236}">
                <a16:creationId xmlns:a16="http://schemas.microsoft.com/office/drawing/2014/main" id="{11B48A9A-FEAB-0695-1D9B-C24BEF2EAEB7}"/>
              </a:ext>
            </a:extLst>
          </p:cNvPr>
          <p:cNvSpPr txBox="1"/>
          <p:nvPr/>
        </p:nvSpPr>
        <p:spPr>
          <a:xfrm>
            <a:off x="180919" y="209490"/>
            <a:ext cx="614449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N" altLang="zh-CN" sz="2000" dirty="0">
                <a:solidFill>
                  <a:schemeClr val="accent1">
                    <a:lumMod val="50000"/>
                  </a:schemeClr>
                </a:solidFill>
              </a:rPr>
              <a:t>Decomposition</a:t>
            </a:r>
            <a:endParaRPr lang="en" altLang="zh-CN" sz="2000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863F1F8-1C60-FBD1-FCBE-C302BCE98C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328" y="1789154"/>
            <a:ext cx="5915619" cy="42984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338984C-20CB-9EAF-510B-EEA380FF431D}"/>
              </a:ext>
            </a:extLst>
          </p:cNvPr>
          <p:cNvSpPr txBox="1"/>
          <p:nvPr/>
        </p:nvSpPr>
        <p:spPr>
          <a:xfrm>
            <a:off x="667911" y="1248033"/>
            <a:ext cx="56899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 interest in the high-resolution narrow scan spectrum</a:t>
            </a:r>
            <a:endParaRPr lang="en-C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E30BB5C-F288-2471-72E2-E13C57DA7FF6}"/>
              </a:ext>
            </a:extLst>
          </p:cNvPr>
          <p:cNvSpPr txBox="1"/>
          <p:nvPr/>
        </p:nvSpPr>
        <p:spPr>
          <a:xfrm>
            <a:off x="1195516" y="6106610"/>
            <a:ext cx="61474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N" dirty="0"/>
              <a:t>Energy level splitting caused by </a:t>
            </a:r>
            <a:r>
              <a:rPr lang="en-CN" b="1" dirty="0"/>
              <a:t>fine</a:t>
            </a:r>
            <a:r>
              <a:rPr lang="zh-CN" altLang="en-US" b="1" dirty="0"/>
              <a:t> </a:t>
            </a:r>
            <a:r>
              <a:rPr lang="en-US" altLang="zh-CN" b="1" dirty="0"/>
              <a:t>structure</a:t>
            </a:r>
            <a:endParaRPr lang="en-CN" b="1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CCB5631-9CBD-19F7-6702-228D47AFE5C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4600" y="3070368"/>
            <a:ext cx="309900" cy="20614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51153EB-4096-5E8B-522A-76AE0852354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4700" y="3325930"/>
            <a:ext cx="309900" cy="20614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D8AA401-10A2-9301-EB92-EF7DF5F3DD5F}"/>
              </a:ext>
            </a:extLst>
          </p:cNvPr>
          <p:cNvSpPr txBox="1"/>
          <p:nvPr/>
        </p:nvSpPr>
        <p:spPr>
          <a:xfrm>
            <a:off x="3880840" y="3029970"/>
            <a:ext cx="7473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3d</a:t>
            </a:r>
            <a:r>
              <a:rPr lang="en-US" altLang="zh-CN" dirty="0"/>
              <a:t>5/2</a:t>
            </a:r>
            <a:endParaRPr lang="en-C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CA67276-36DD-969C-7A68-F7AB045A7CF3}"/>
              </a:ext>
            </a:extLst>
          </p:cNvPr>
          <p:cNvSpPr txBox="1"/>
          <p:nvPr/>
        </p:nvSpPr>
        <p:spPr>
          <a:xfrm>
            <a:off x="3570940" y="3276033"/>
            <a:ext cx="7473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3d</a:t>
            </a:r>
            <a:r>
              <a:rPr lang="en-US" altLang="zh-CN" dirty="0"/>
              <a:t>3/2</a:t>
            </a:r>
            <a:endParaRPr lang="en-CN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0CD1D2B8-0BD6-5D3D-91B7-C4D15065B61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2087" y="1432699"/>
            <a:ext cx="5490057" cy="4616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92433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E19335C-61C5-C286-C276-8DBCBE382C7C}"/>
              </a:ext>
            </a:extLst>
          </p:cNvPr>
          <p:cNvSpPr txBox="1">
            <a:spLocks/>
          </p:cNvSpPr>
          <p:nvPr/>
        </p:nvSpPr>
        <p:spPr bwMode="auto">
          <a:xfrm>
            <a:off x="10880725" y="6475942"/>
            <a:ext cx="1311275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rtlCol="0" anchor="ctr" anchorCtr="0" compatLnSpc="1"/>
          <a:lstStyle>
            <a:defPPr>
              <a:defRPr lang="zh-CN"/>
            </a:defPPr>
            <a:lvl1pPr marL="0" algn="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b="1" i="1" kern="1200" smtClean="0">
                <a:solidFill>
                  <a:srgbClr val="FFFFFF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Calibri" panose="020F0502020204030204" pitchFamily="34" charset="0"/>
              </a:defRPr>
            </a:lvl1pPr>
            <a:lvl2pPr marL="4572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  <a:sym typeface="Calibri" panose="020F0502020204030204" pitchFamily="34" charset="0"/>
              </a:defRPr>
            </a:lvl2pPr>
            <a:lvl3pPr marL="911225" indent="3175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  <a:sym typeface="Calibri" panose="020F0502020204030204" pitchFamily="34" charset="0"/>
              </a:defRPr>
            </a:lvl3pPr>
            <a:lvl4pPr marL="1368425" indent="3175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  <a:sym typeface="Calibri" panose="020F0502020204030204" pitchFamily="34" charset="0"/>
              </a:defRPr>
            </a:lvl4pPr>
            <a:lvl5pPr marL="1825625" indent="3175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  <a:sym typeface="Calibri" panose="020F0502020204030204" pitchFamily="34" charset="0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  <a:sym typeface="Calibri" panose="020F0502020204030204" pitchFamily="34" charset="0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  <a:sym typeface="Calibri" panose="020F0502020204030204" pitchFamily="34" charset="0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  <a:sym typeface="Calibri" panose="020F0502020204030204" pitchFamily="34" charset="0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  <a:sym typeface="Calibri" panose="020F0502020204030204" pitchFamily="34" charset="0"/>
              </a:defRPr>
            </a:lvl9pPr>
          </a:lstStyle>
          <a:p>
            <a:fld id="{30055C4C-D7A3-431C-BDD5-E6EB3A7AC7E0}" type="slidenum">
              <a:rPr lang="zh-CN" altLang="en-US" smtClean="0">
                <a:solidFill>
                  <a:schemeClr val="tx1"/>
                </a:solidFill>
              </a:rPr>
              <a:pPr/>
              <a:t>7</a:t>
            </a:fld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3" name="直线连接符 2">
            <a:extLst>
              <a:ext uri="{FF2B5EF4-FFF2-40B4-BE49-F238E27FC236}">
                <a16:creationId xmlns:a16="http://schemas.microsoft.com/office/drawing/2014/main" id="{237BD34B-AE87-E89C-1CE1-F4AFFCBE120B}"/>
              </a:ext>
            </a:extLst>
          </p:cNvPr>
          <p:cNvCxnSpPr/>
          <p:nvPr/>
        </p:nvCxnSpPr>
        <p:spPr>
          <a:xfrm>
            <a:off x="0" y="609600"/>
            <a:ext cx="12192000" cy="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4" name="文本框 2">
            <a:extLst>
              <a:ext uri="{FF2B5EF4-FFF2-40B4-BE49-F238E27FC236}">
                <a16:creationId xmlns:a16="http://schemas.microsoft.com/office/drawing/2014/main" id="{11B48A9A-FEAB-0695-1D9B-C24BEF2EAEB7}"/>
              </a:ext>
            </a:extLst>
          </p:cNvPr>
          <p:cNvSpPr txBox="1"/>
          <p:nvPr/>
        </p:nvSpPr>
        <p:spPr>
          <a:xfrm>
            <a:off x="180919" y="209490"/>
            <a:ext cx="614449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N" altLang="zh-CN" sz="2000" dirty="0">
                <a:solidFill>
                  <a:schemeClr val="accent1">
                    <a:lumMod val="50000"/>
                  </a:schemeClr>
                </a:solidFill>
              </a:rPr>
              <a:t>Decomposition</a:t>
            </a:r>
            <a:endParaRPr lang="en" altLang="zh-CN" sz="2000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77E23AE-181E-59FA-D64F-B760C527FB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850" y="876357"/>
            <a:ext cx="3663950" cy="505372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F1B79A6-4E54-4D23-1004-77DA495E9EE6}"/>
              </a:ext>
            </a:extLst>
          </p:cNvPr>
          <p:cNvSpPr txBox="1"/>
          <p:nvPr/>
        </p:nvSpPr>
        <p:spPr>
          <a:xfrm>
            <a:off x="1642561" y="5966004"/>
            <a:ext cx="1607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2400" dirty="0"/>
              <a:t>S-L couping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79C43C3-1215-CEBA-0B03-24FE867F3BEE}"/>
                  </a:ext>
                </a:extLst>
              </p:cNvPr>
              <p:cNvSpPr txBox="1"/>
              <p:nvPr/>
            </p:nvSpPr>
            <p:spPr>
              <a:xfrm>
                <a:off x="5089970" y="802426"/>
                <a:ext cx="6651180" cy="60386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Take Cu 2p as example: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en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here are six electrons on the 2p (n</a:t>
                </a:r>
                <a:r>
                  <a:rPr lang="zh-CN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=2, l =1) </a:t>
                </a:r>
                <a:r>
                  <a:rPr lang="en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orbit.</a:t>
                </a:r>
              </a:p>
              <a:p>
                <a:pPr>
                  <a:lnSpc>
                    <a:spcPct val="150000"/>
                  </a:lnSpc>
                </a:pPr>
                <a:endParaRPr lang="en-C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en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wo electrons  : n</a:t>
                </a:r>
                <a:r>
                  <a:rPr lang="zh-CN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:r>
                  <a:rPr lang="zh-CN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2, </a:t>
                </a:r>
                <a:r>
                  <a:rPr lang="zh-CN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</a:t>
                </a:r>
                <a:r>
                  <a:rPr lang="en-US" altLang="zh-CN" sz="20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</a:t>
                </a: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-1</a:t>
                </a:r>
                <a:r>
                  <a:rPr lang="en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en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wo electrons  : n</a:t>
                </a:r>
                <a:r>
                  <a:rPr lang="zh-CN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:r>
                  <a:rPr lang="zh-CN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2, </a:t>
                </a:r>
                <a:r>
                  <a:rPr lang="zh-CN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</a:t>
                </a:r>
                <a:r>
                  <a:rPr lang="en-US" altLang="zh-CN" sz="20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</a:t>
                </a: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0</a:t>
                </a:r>
                <a:r>
                  <a:rPr lang="en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en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wo electrons  : n</a:t>
                </a:r>
                <a:r>
                  <a:rPr lang="zh-CN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:r>
                  <a:rPr lang="zh-CN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2, </a:t>
                </a:r>
                <a:r>
                  <a:rPr lang="zh-CN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</a:t>
                </a:r>
                <a:r>
                  <a:rPr lang="en-US" altLang="zh-CN" sz="20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</a:t>
                </a: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1</a:t>
                </a:r>
                <a:r>
                  <a:rPr lang="en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>
                  <a:lnSpc>
                    <a:spcPct val="150000"/>
                  </a:lnSpc>
                </a:pPr>
                <a:endParaRPr lang="en-C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en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onsider the fine structure :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ll six electrons yield in two diferent total angular</a:t>
                </a:r>
                <a:r>
                  <a:rPr lang="zh-CN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momentum</a:t>
                </a:r>
                <a:r>
                  <a:rPr lang="en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>
                  <a:lnSpc>
                    <a:spcPct val="150000"/>
                  </a:lnSpc>
                </a:pPr>
                <a:r>
                  <a:rPr lang="en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 = 1+ ½ = </a:t>
                </a:r>
                <a14:m>
                  <m:oMath xmlns:m="http://schemas.openxmlformats.org/officeDocument/2006/math">
                    <m:f>
                      <m:fPr>
                        <m:type m:val="skw"/>
                        <m:ctrlPr>
                          <a:rPr lang="en-CN" sz="20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0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num>
                      <m:den>
                        <m:r>
                          <a:rPr lang="en-US" sz="20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or j = 1- ½ = ½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</a:t>
                </a:r>
                <a:r>
                  <a:rPr lang="en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or j = </a:t>
                </a:r>
                <a14:m>
                  <m:oMath xmlns:m="http://schemas.openxmlformats.org/officeDocument/2006/math">
                    <m:f>
                      <m:fPr>
                        <m:type m:val="skw"/>
                        <m:ctrlPr>
                          <a:rPr lang="en-CN" sz="20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0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num>
                      <m:den>
                        <m:r>
                          <a:rPr lang="en-US" sz="20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, </a:t>
                </a:r>
                <a:r>
                  <a:rPr lang="en-US" altLang="zh-CN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</a:t>
                </a:r>
                <a:r>
                  <a:rPr lang="en-US" altLang="zh-CN" sz="2000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</a:t>
                </a: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r>
                      <a:rPr lang="en-CN" sz="20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±</m:t>
                    </m:r>
                    <m:f>
                      <m:fPr>
                        <m:type m:val="skw"/>
                        <m:ctrlPr>
                          <a:rPr lang="en-CN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num>
                      <m:den>
                        <m:r>
                          <a:rPr lang="en-US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,</a:t>
                </a:r>
                <a:r>
                  <a:rPr lang="en-CN" sz="20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CN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±</m:t>
                    </m:r>
                    <m:f>
                      <m:fPr>
                        <m:type m:val="skw"/>
                        <m:ctrlPr>
                          <a:rPr lang="en-CN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0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(four electrons)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</a:t>
                </a:r>
                <a:r>
                  <a:rPr lang="en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or j = </a:t>
                </a:r>
                <a14:m>
                  <m:oMath xmlns:m="http://schemas.openxmlformats.org/officeDocument/2006/math">
                    <m:f>
                      <m:fPr>
                        <m:type m:val="skw"/>
                        <m:ctrlPr>
                          <a:rPr lang="en-CN" sz="20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0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0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, </a:t>
                </a:r>
                <a:r>
                  <a:rPr lang="en-US" altLang="zh-CN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</a:t>
                </a:r>
                <a:r>
                  <a:rPr lang="en-US" altLang="zh-CN" sz="2000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</a:t>
                </a: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r>
                      <a:rPr lang="en-CN" sz="20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±</m:t>
                    </m:r>
                    <m:f>
                      <m:fPr>
                        <m:type m:val="skw"/>
                        <m:ctrlPr>
                          <a:rPr lang="en-CN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0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,</a:t>
                </a:r>
                <a:r>
                  <a:rPr lang="en-CN" sz="20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(two electrons)</a:t>
                </a:r>
              </a:p>
              <a:p>
                <a:pPr>
                  <a:lnSpc>
                    <a:spcPct val="150000"/>
                  </a:lnSpc>
                </a:pPr>
                <a:endParaRPr lang="en-C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79C43C3-1215-CEBA-0B03-24FE867F3B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9970" y="802426"/>
                <a:ext cx="6651180" cy="6038641"/>
              </a:xfrm>
              <a:prstGeom prst="rect">
                <a:avLst/>
              </a:prstGeom>
              <a:blipFill>
                <a:blip r:embed="rId4"/>
                <a:stretch>
                  <a:fillRect l="-952" b="-3782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761435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E19335C-61C5-C286-C276-8DBCBE382C7C}"/>
              </a:ext>
            </a:extLst>
          </p:cNvPr>
          <p:cNvSpPr txBox="1">
            <a:spLocks/>
          </p:cNvSpPr>
          <p:nvPr/>
        </p:nvSpPr>
        <p:spPr bwMode="auto">
          <a:xfrm>
            <a:off x="10880725" y="6475942"/>
            <a:ext cx="1311275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rtlCol="0" anchor="ctr" anchorCtr="0" compatLnSpc="1"/>
          <a:lstStyle>
            <a:defPPr>
              <a:defRPr lang="zh-CN"/>
            </a:defPPr>
            <a:lvl1pPr marL="0" algn="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b="1" i="1" kern="1200" smtClean="0">
                <a:solidFill>
                  <a:srgbClr val="FFFFFF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Calibri" panose="020F0502020204030204" pitchFamily="34" charset="0"/>
              </a:defRPr>
            </a:lvl1pPr>
            <a:lvl2pPr marL="4572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  <a:sym typeface="Calibri" panose="020F0502020204030204" pitchFamily="34" charset="0"/>
              </a:defRPr>
            </a:lvl2pPr>
            <a:lvl3pPr marL="911225" indent="3175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  <a:sym typeface="Calibri" panose="020F0502020204030204" pitchFamily="34" charset="0"/>
              </a:defRPr>
            </a:lvl3pPr>
            <a:lvl4pPr marL="1368425" indent="3175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  <a:sym typeface="Calibri" panose="020F0502020204030204" pitchFamily="34" charset="0"/>
              </a:defRPr>
            </a:lvl4pPr>
            <a:lvl5pPr marL="1825625" indent="3175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  <a:sym typeface="Calibri" panose="020F0502020204030204" pitchFamily="34" charset="0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  <a:sym typeface="Calibri" panose="020F0502020204030204" pitchFamily="34" charset="0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  <a:sym typeface="Calibri" panose="020F0502020204030204" pitchFamily="34" charset="0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  <a:sym typeface="Calibri" panose="020F0502020204030204" pitchFamily="34" charset="0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  <a:sym typeface="Calibri" panose="020F0502020204030204" pitchFamily="34" charset="0"/>
              </a:defRPr>
            </a:lvl9pPr>
          </a:lstStyle>
          <a:p>
            <a:fld id="{30055C4C-D7A3-431C-BDD5-E6EB3A7AC7E0}" type="slidenum">
              <a:rPr lang="zh-CN" altLang="en-US" smtClean="0">
                <a:solidFill>
                  <a:schemeClr val="tx1"/>
                </a:solidFill>
              </a:rPr>
              <a:pPr/>
              <a:t>8</a:t>
            </a:fld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3" name="直线连接符 2">
            <a:extLst>
              <a:ext uri="{FF2B5EF4-FFF2-40B4-BE49-F238E27FC236}">
                <a16:creationId xmlns:a16="http://schemas.microsoft.com/office/drawing/2014/main" id="{237BD34B-AE87-E89C-1CE1-F4AFFCBE120B}"/>
              </a:ext>
            </a:extLst>
          </p:cNvPr>
          <p:cNvCxnSpPr/>
          <p:nvPr/>
        </p:nvCxnSpPr>
        <p:spPr>
          <a:xfrm>
            <a:off x="0" y="609600"/>
            <a:ext cx="12192000" cy="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4" name="文本框 2">
            <a:extLst>
              <a:ext uri="{FF2B5EF4-FFF2-40B4-BE49-F238E27FC236}">
                <a16:creationId xmlns:a16="http://schemas.microsoft.com/office/drawing/2014/main" id="{11B48A9A-FEAB-0695-1D9B-C24BEF2EAEB7}"/>
              </a:ext>
            </a:extLst>
          </p:cNvPr>
          <p:cNvSpPr txBox="1"/>
          <p:nvPr/>
        </p:nvSpPr>
        <p:spPr>
          <a:xfrm>
            <a:off x="180919" y="209490"/>
            <a:ext cx="614449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N" altLang="zh-CN" sz="2000" dirty="0">
                <a:solidFill>
                  <a:schemeClr val="accent1">
                    <a:lumMod val="50000"/>
                  </a:schemeClr>
                </a:solidFill>
              </a:rPr>
              <a:t>Decomposition</a:t>
            </a:r>
            <a:endParaRPr lang="en" altLang="zh-CN" sz="2000" dirty="0">
              <a:solidFill>
                <a:schemeClr val="accent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64D373A-1388-5279-E2EA-938894BD8C80}"/>
                  </a:ext>
                </a:extLst>
              </p:cNvPr>
              <p:cNvSpPr txBox="1"/>
              <p:nvPr/>
            </p:nvSpPr>
            <p:spPr>
              <a:xfrm>
                <a:off x="1283462" y="5103177"/>
                <a:ext cx="11436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N" dirty="0"/>
                  <a:t>Cu </a:t>
                </a:r>
                <a:r>
                  <a:rPr lang="en-US" altLang="zh-CN" sz="18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  <a:r>
                  <a:rPr lang="en-US" altLang="zh-CN" sz="1800" b="1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p</a:t>
                </a:r>
                <a:r>
                  <a:rPr lang="en-CN" sz="18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type m:val="skw"/>
                        <m:ctrlPr>
                          <a:rPr lang="en-CN" sz="18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18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num>
                      <m:den>
                        <m:r>
                          <a:rPr lang="en-US" sz="18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CN" dirty="0"/>
                  <a:t> 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64D373A-1388-5279-E2EA-938894BD8C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3462" y="5103177"/>
                <a:ext cx="1143646" cy="369332"/>
              </a:xfrm>
              <a:prstGeom prst="rect">
                <a:avLst/>
              </a:prstGeom>
              <a:blipFill>
                <a:blip r:embed="rId4"/>
                <a:stretch>
                  <a:fillRect l="-5495" t="-106452" r="-4396" b="-158065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9239AEC-A6F0-4CD8-F2A4-6401C1068A66}"/>
                  </a:ext>
                </a:extLst>
              </p:cNvPr>
              <p:cNvSpPr txBox="1"/>
              <p:nvPr/>
            </p:nvSpPr>
            <p:spPr>
              <a:xfrm>
                <a:off x="1283462" y="5564842"/>
                <a:ext cx="12959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N" dirty="0"/>
                  <a:t>CuO </a:t>
                </a:r>
                <a:r>
                  <a:rPr lang="en-US" altLang="zh-CN" sz="18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  <a:r>
                  <a:rPr lang="en-US" altLang="zh-CN" sz="1800" b="1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p</a:t>
                </a:r>
                <a:r>
                  <a:rPr lang="en-CN" sz="18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type m:val="skw"/>
                        <m:ctrlPr>
                          <a:rPr lang="en-CN" sz="18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18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num>
                      <m:den>
                        <m:r>
                          <a:rPr lang="en-US" sz="18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CN" dirty="0"/>
                  <a:t> 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9239AEC-A6F0-4CD8-F2A4-6401C1068A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3462" y="5564842"/>
                <a:ext cx="1295932" cy="369332"/>
              </a:xfrm>
              <a:prstGeom prst="rect">
                <a:avLst/>
              </a:prstGeom>
              <a:blipFill>
                <a:blip r:embed="rId5"/>
                <a:stretch>
                  <a:fillRect l="-4854" t="-113333" r="-2913" b="-16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E9FDFD9-53B3-C33A-7534-84A32E52C81A}"/>
                  </a:ext>
                </a:extLst>
              </p:cNvPr>
              <p:cNvSpPr txBox="1"/>
              <p:nvPr/>
            </p:nvSpPr>
            <p:spPr>
              <a:xfrm>
                <a:off x="1283785" y="6026507"/>
                <a:ext cx="141295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N" dirty="0"/>
                  <a:t>Cu</a:t>
                </a:r>
                <a:r>
                  <a:rPr lang="en-CN" baseline="-25000" dirty="0"/>
                  <a:t>2</a:t>
                </a:r>
                <a:r>
                  <a:rPr lang="en-CN" dirty="0"/>
                  <a:t>O </a:t>
                </a:r>
                <a:r>
                  <a:rPr lang="en-US" altLang="zh-CN" sz="18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  <a:r>
                  <a:rPr lang="en-US" altLang="zh-CN" sz="1800" b="1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p</a:t>
                </a:r>
                <a:r>
                  <a:rPr lang="en-CN" sz="18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type m:val="skw"/>
                        <m:ctrlPr>
                          <a:rPr lang="en-CN" sz="18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18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num>
                      <m:den>
                        <m:r>
                          <a:rPr lang="en-US" sz="18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CN" dirty="0"/>
                  <a:t> 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E9FDFD9-53B3-C33A-7534-84A32E52C8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3785" y="6026507"/>
                <a:ext cx="1412951" cy="369332"/>
              </a:xfrm>
              <a:prstGeom prst="rect">
                <a:avLst/>
              </a:prstGeom>
              <a:blipFill>
                <a:blip r:embed="rId6"/>
                <a:stretch>
                  <a:fillRect l="-4464" t="-110000" r="-893" b="-16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文本框 8">
            <a:extLst>
              <a:ext uri="{FF2B5EF4-FFF2-40B4-BE49-F238E27FC236}">
                <a16:creationId xmlns:a16="http://schemas.microsoft.com/office/drawing/2014/main" id="{D8FBE1F4-7695-400D-2F97-928EC4BAF50D}"/>
              </a:ext>
            </a:extLst>
          </p:cNvPr>
          <p:cNvSpPr txBox="1"/>
          <p:nvPr/>
        </p:nvSpPr>
        <p:spPr>
          <a:xfrm>
            <a:off x="5976511" y="909722"/>
            <a:ext cx="1659432" cy="407291"/>
          </a:xfrm>
          <a:prstGeom prst="rect">
            <a:avLst/>
          </a:prstGeom>
          <a:solidFill>
            <a:schemeClr val="accent5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profile</a:t>
            </a:r>
            <a:endParaRPr lang="zh-CN" altLang="en-US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1" name="文本框 8">
            <a:extLst>
              <a:ext uri="{FF2B5EF4-FFF2-40B4-BE49-F238E27FC236}">
                <a16:creationId xmlns:a16="http://schemas.microsoft.com/office/drawing/2014/main" id="{375CA3C0-797A-8DC8-3BD0-47D671592690}"/>
              </a:ext>
            </a:extLst>
          </p:cNvPr>
          <p:cNvSpPr txBox="1"/>
          <p:nvPr/>
        </p:nvSpPr>
        <p:spPr>
          <a:xfrm>
            <a:off x="8887130" y="937088"/>
            <a:ext cx="2008115" cy="40722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Measure fun.</a:t>
            </a:r>
            <a:endParaRPr lang="zh-CN" altLang="en-US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2" name="文本框 8">
            <a:extLst>
              <a:ext uri="{FF2B5EF4-FFF2-40B4-BE49-F238E27FC236}">
                <a16:creationId xmlns:a16="http://schemas.microsoft.com/office/drawing/2014/main" id="{72142CA7-C118-29FA-253D-01BC469C46F6}"/>
              </a:ext>
            </a:extLst>
          </p:cNvPr>
          <p:cNvSpPr txBox="1"/>
          <p:nvPr/>
        </p:nvSpPr>
        <p:spPr>
          <a:xfrm>
            <a:off x="5976512" y="1775389"/>
            <a:ext cx="1659432" cy="407227"/>
          </a:xfrm>
          <a:prstGeom prst="rect">
            <a:avLst/>
          </a:prstGeom>
          <a:solidFill>
            <a:schemeClr val="accent5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intensity</a:t>
            </a:r>
            <a:endParaRPr lang="zh-CN" altLang="en-US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3" name="文本框 8">
            <a:extLst>
              <a:ext uri="{FF2B5EF4-FFF2-40B4-BE49-F238E27FC236}">
                <a16:creationId xmlns:a16="http://schemas.microsoft.com/office/drawing/2014/main" id="{8C00BCFD-0CE5-38D3-3A09-58941FE1CE2A}"/>
              </a:ext>
            </a:extLst>
          </p:cNvPr>
          <p:cNvSpPr txBox="1"/>
          <p:nvPr/>
        </p:nvSpPr>
        <p:spPr>
          <a:xfrm>
            <a:off x="8718422" y="1680770"/>
            <a:ext cx="2345532" cy="4072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electron num</a:t>
            </a:r>
            <a:endParaRPr lang="zh-CN" altLang="en-US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" name="文本框 8">
            <a:extLst>
              <a:ext uri="{FF2B5EF4-FFF2-40B4-BE49-F238E27FC236}">
                <a16:creationId xmlns:a16="http://schemas.microsoft.com/office/drawing/2014/main" id="{62AAEE77-35EE-DCEC-AC14-37D0277330DF}"/>
              </a:ext>
            </a:extLst>
          </p:cNvPr>
          <p:cNvSpPr txBox="1"/>
          <p:nvPr/>
        </p:nvSpPr>
        <p:spPr>
          <a:xfrm>
            <a:off x="5976511" y="2545396"/>
            <a:ext cx="1691443" cy="407291"/>
          </a:xfrm>
          <a:prstGeom prst="rect">
            <a:avLst/>
          </a:prstGeom>
          <a:solidFill>
            <a:schemeClr val="accent5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energy</a:t>
            </a:r>
            <a:endParaRPr lang="zh-CN" altLang="en-US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5" name="文本框 8">
            <a:extLst>
              <a:ext uri="{FF2B5EF4-FFF2-40B4-BE49-F238E27FC236}">
                <a16:creationId xmlns:a16="http://schemas.microsoft.com/office/drawing/2014/main" id="{4CB417B8-A81D-5C56-E320-C1B18075E040}"/>
              </a:ext>
            </a:extLst>
          </p:cNvPr>
          <p:cNvSpPr txBox="1"/>
          <p:nvPr/>
        </p:nvSpPr>
        <p:spPr>
          <a:xfrm>
            <a:off x="8887131" y="2526642"/>
            <a:ext cx="2176824" cy="40722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Sample location</a:t>
            </a:r>
            <a:endParaRPr lang="zh-CN" altLang="en-US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6" name="文本框 8">
            <a:extLst>
              <a:ext uri="{FF2B5EF4-FFF2-40B4-BE49-F238E27FC236}">
                <a16:creationId xmlns:a16="http://schemas.microsoft.com/office/drawing/2014/main" id="{02E80373-3E96-7CBE-32A1-4D59B49810CF}"/>
              </a:ext>
            </a:extLst>
          </p:cNvPr>
          <p:cNvSpPr txBox="1"/>
          <p:nvPr/>
        </p:nvSpPr>
        <p:spPr>
          <a:xfrm>
            <a:off x="5976511" y="3297797"/>
            <a:ext cx="1742265" cy="407227"/>
          </a:xfrm>
          <a:prstGeom prst="rect">
            <a:avLst/>
          </a:prstGeom>
          <a:solidFill>
            <a:schemeClr val="accent5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Multi-peaks</a:t>
            </a:r>
            <a:endParaRPr lang="zh-CN" altLang="en-US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7" name="文本框 8">
            <a:extLst>
              <a:ext uri="{FF2B5EF4-FFF2-40B4-BE49-F238E27FC236}">
                <a16:creationId xmlns:a16="http://schemas.microsoft.com/office/drawing/2014/main" id="{63BA8C5A-43ED-9D89-0E1B-4606FAED2416}"/>
              </a:ext>
            </a:extLst>
          </p:cNvPr>
          <p:cNvSpPr txBox="1"/>
          <p:nvPr/>
        </p:nvSpPr>
        <p:spPr>
          <a:xfrm>
            <a:off x="8909043" y="3166600"/>
            <a:ext cx="2102102" cy="74584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mixed prob. density</a:t>
            </a:r>
            <a:endParaRPr lang="zh-CN" altLang="en-US" sz="2000" b="1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8" name="右箭头 7">
            <a:extLst>
              <a:ext uri="{FF2B5EF4-FFF2-40B4-BE49-F238E27FC236}">
                <a16:creationId xmlns:a16="http://schemas.microsoft.com/office/drawing/2014/main" id="{FDD9D3CC-83B4-0CB3-4B2B-00F8EE970643}"/>
              </a:ext>
            </a:extLst>
          </p:cNvPr>
          <p:cNvSpPr/>
          <p:nvPr/>
        </p:nvSpPr>
        <p:spPr bwMode="auto">
          <a:xfrm>
            <a:off x="7887557" y="990299"/>
            <a:ext cx="551875" cy="221171"/>
          </a:xfrm>
          <a:prstGeom prst="rightArrow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sym typeface="Calibri" panose="020F0502020204030204" pitchFamily="34" charset="0"/>
            </a:endParaRPr>
          </a:p>
        </p:txBody>
      </p:sp>
      <p:sp>
        <p:nvSpPr>
          <p:cNvPr id="19" name="右箭头 7">
            <a:extLst>
              <a:ext uri="{FF2B5EF4-FFF2-40B4-BE49-F238E27FC236}">
                <a16:creationId xmlns:a16="http://schemas.microsoft.com/office/drawing/2014/main" id="{1B68252E-7629-35E2-0054-30D58BCBB20D}"/>
              </a:ext>
            </a:extLst>
          </p:cNvPr>
          <p:cNvSpPr/>
          <p:nvPr/>
        </p:nvSpPr>
        <p:spPr bwMode="auto">
          <a:xfrm>
            <a:off x="7887555" y="3398069"/>
            <a:ext cx="551875" cy="221171"/>
          </a:xfrm>
          <a:prstGeom prst="rightArrow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sym typeface="Calibri" panose="020F0502020204030204" pitchFamily="34" charset="0"/>
            </a:endParaRPr>
          </a:p>
        </p:txBody>
      </p:sp>
      <p:sp>
        <p:nvSpPr>
          <p:cNvPr id="20" name="右箭头 7">
            <a:extLst>
              <a:ext uri="{FF2B5EF4-FFF2-40B4-BE49-F238E27FC236}">
                <a16:creationId xmlns:a16="http://schemas.microsoft.com/office/drawing/2014/main" id="{3859CC00-08C1-D26D-8BC1-B74A64FF39ED}"/>
              </a:ext>
            </a:extLst>
          </p:cNvPr>
          <p:cNvSpPr/>
          <p:nvPr/>
        </p:nvSpPr>
        <p:spPr bwMode="auto">
          <a:xfrm>
            <a:off x="7887557" y="1817466"/>
            <a:ext cx="551875" cy="221171"/>
          </a:xfrm>
          <a:prstGeom prst="rightArrow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sym typeface="Calibri" panose="020F0502020204030204" pitchFamily="34" charset="0"/>
            </a:endParaRPr>
          </a:p>
        </p:txBody>
      </p:sp>
      <p:sp>
        <p:nvSpPr>
          <p:cNvPr id="21" name="右箭头 7">
            <a:extLst>
              <a:ext uri="{FF2B5EF4-FFF2-40B4-BE49-F238E27FC236}">
                <a16:creationId xmlns:a16="http://schemas.microsoft.com/office/drawing/2014/main" id="{27D1F866-090C-562F-F465-68559228E7FA}"/>
              </a:ext>
            </a:extLst>
          </p:cNvPr>
          <p:cNvSpPr/>
          <p:nvPr/>
        </p:nvSpPr>
        <p:spPr bwMode="auto">
          <a:xfrm>
            <a:off x="7887556" y="2620246"/>
            <a:ext cx="551875" cy="221171"/>
          </a:xfrm>
          <a:prstGeom prst="rightArrow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sym typeface="Calibri" panose="020F0502020204030204" pitchFamily="34" charset="0"/>
            </a:endParaRPr>
          </a:p>
        </p:txBody>
      </p:sp>
      <p:sp>
        <p:nvSpPr>
          <p:cNvPr id="22" name="矩形 16">
            <a:extLst>
              <a:ext uri="{FF2B5EF4-FFF2-40B4-BE49-F238E27FC236}">
                <a16:creationId xmlns:a16="http://schemas.microsoft.com/office/drawing/2014/main" id="{C9426ABD-121B-FD85-F2B3-F1D05D0D1D91}"/>
              </a:ext>
            </a:extLst>
          </p:cNvPr>
          <p:cNvSpPr/>
          <p:nvPr/>
        </p:nvSpPr>
        <p:spPr bwMode="auto">
          <a:xfrm>
            <a:off x="8517135" y="609600"/>
            <a:ext cx="2798432" cy="3399849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sym typeface="Calibri" panose="020F0502020204030204" pitchFamily="34" charset="0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8626FDBC-ADBC-FCC0-1809-7D6F7382A3E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0" y="4091075"/>
            <a:ext cx="5080000" cy="265430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8AA304C1-1BE9-7D71-C2F6-090AD8C8D03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695" y="798235"/>
            <a:ext cx="5547389" cy="4308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27509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E19335C-61C5-C286-C276-8DBCBE382C7C}"/>
              </a:ext>
            </a:extLst>
          </p:cNvPr>
          <p:cNvSpPr txBox="1">
            <a:spLocks/>
          </p:cNvSpPr>
          <p:nvPr/>
        </p:nvSpPr>
        <p:spPr bwMode="auto">
          <a:xfrm>
            <a:off x="10880725" y="6475942"/>
            <a:ext cx="1311275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rtlCol="0" anchor="ctr" anchorCtr="0" compatLnSpc="1"/>
          <a:lstStyle>
            <a:defPPr>
              <a:defRPr lang="zh-CN"/>
            </a:defPPr>
            <a:lvl1pPr marL="0" algn="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b="1" i="1" kern="1200" smtClean="0">
                <a:solidFill>
                  <a:srgbClr val="FFFFFF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Calibri" panose="020F0502020204030204" pitchFamily="34" charset="0"/>
              </a:defRPr>
            </a:lvl1pPr>
            <a:lvl2pPr marL="4572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  <a:sym typeface="Calibri" panose="020F0502020204030204" pitchFamily="34" charset="0"/>
              </a:defRPr>
            </a:lvl2pPr>
            <a:lvl3pPr marL="911225" indent="3175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  <a:sym typeface="Calibri" panose="020F0502020204030204" pitchFamily="34" charset="0"/>
              </a:defRPr>
            </a:lvl3pPr>
            <a:lvl4pPr marL="1368425" indent="3175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  <a:sym typeface="Calibri" panose="020F0502020204030204" pitchFamily="34" charset="0"/>
              </a:defRPr>
            </a:lvl4pPr>
            <a:lvl5pPr marL="1825625" indent="3175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  <a:sym typeface="Calibri" panose="020F0502020204030204" pitchFamily="34" charset="0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  <a:sym typeface="Calibri" panose="020F0502020204030204" pitchFamily="34" charset="0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  <a:sym typeface="Calibri" panose="020F0502020204030204" pitchFamily="34" charset="0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  <a:sym typeface="Calibri" panose="020F0502020204030204" pitchFamily="34" charset="0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  <a:sym typeface="Calibri" panose="020F0502020204030204" pitchFamily="34" charset="0"/>
              </a:defRPr>
            </a:lvl9pPr>
          </a:lstStyle>
          <a:p>
            <a:fld id="{30055C4C-D7A3-431C-BDD5-E6EB3A7AC7E0}" type="slidenum">
              <a:rPr lang="zh-CN" altLang="en-US" smtClean="0">
                <a:solidFill>
                  <a:schemeClr val="tx1"/>
                </a:solidFill>
              </a:rPr>
              <a:pPr/>
              <a:t>9</a:t>
            </a:fld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3" name="直线连接符 2">
            <a:extLst>
              <a:ext uri="{FF2B5EF4-FFF2-40B4-BE49-F238E27FC236}">
                <a16:creationId xmlns:a16="http://schemas.microsoft.com/office/drawing/2014/main" id="{237BD34B-AE87-E89C-1CE1-F4AFFCBE120B}"/>
              </a:ext>
            </a:extLst>
          </p:cNvPr>
          <p:cNvCxnSpPr/>
          <p:nvPr/>
        </p:nvCxnSpPr>
        <p:spPr>
          <a:xfrm>
            <a:off x="0" y="609600"/>
            <a:ext cx="12192000" cy="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4" name="文本框 2">
            <a:extLst>
              <a:ext uri="{FF2B5EF4-FFF2-40B4-BE49-F238E27FC236}">
                <a16:creationId xmlns:a16="http://schemas.microsoft.com/office/drawing/2014/main" id="{11B48A9A-FEAB-0695-1D9B-C24BEF2EAEB7}"/>
              </a:ext>
            </a:extLst>
          </p:cNvPr>
          <p:cNvSpPr txBox="1"/>
          <p:nvPr/>
        </p:nvSpPr>
        <p:spPr>
          <a:xfrm>
            <a:off x="180919" y="209490"/>
            <a:ext cx="614449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N" altLang="zh-CN" sz="2000" dirty="0">
                <a:solidFill>
                  <a:schemeClr val="accent1">
                    <a:lumMod val="50000"/>
                  </a:schemeClr>
                </a:solidFill>
              </a:rPr>
              <a:t>Code</a:t>
            </a:r>
            <a:r>
              <a:rPr lang="zh-CN" altLang="en-US" sz="2000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altLang="zh-CN" sz="2000" dirty="0">
                <a:solidFill>
                  <a:schemeClr val="accent1">
                    <a:lumMod val="50000"/>
                  </a:schemeClr>
                </a:solidFill>
              </a:rPr>
              <a:t>Demo </a:t>
            </a:r>
            <a:endParaRPr lang="en" altLang="zh-CN" sz="20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23D57F9-F476-E7F6-E9B5-7E0BE9030CF5}"/>
              </a:ext>
            </a:extLst>
          </p:cNvPr>
          <p:cNvSpPr txBox="1"/>
          <p:nvPr/>
        </p:nvSpPr>
        <p:spPr>
          <a:xfrm>
            <a:off x="909376" y="1009710"/>
            <a:ext cx="69668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If the energy shift caused by spin-orbit coupling is not considered</a:t>
            </a:r>
            <a:endParaRPr lang="en-CN" sz="2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9E2F55F-4F82-5BF3-5A72-1E9013D72D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00" y="1482904"/>
            <a:ext cx="6855196" cy="499303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07A464E-029A-EFF3-74F6-5351E91DC242}"/>
              </a:ext>
            </a:extLst>
          </p:cNvPr>
          <p:cNvSpPr txBox="1"/>
          <p:nvPr/>
        </p:nvSpPr>
        <p:spPr>
          <a:xfrm>
            <a:off x="4216400" y="6106610"/>
            <a:ext cx="6146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N" dirty="0"/>
              <a:t>We can decompose it perfectly and achieve good accuracy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936C39D-CE87-5F72-EDBA-1185B59D5B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6760" y="2674320"/>
            <a:ext cx="3793939" cy="284545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6DB5FFF-584B-DD38-9D90-66185DF0F13C}"/>
              </a:ext>
            </a:extLst>
          </p:cNvPr>
          <p:cNvSpPr txBox="1"/>
          <p:nvPr/>
        </p:nvSpPr>
        <p:spPr>
          <a:xfrm>
            <a:off x="9410699" y="3912381"/>
            <a:ext cx="17261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/>
              <a:t>EM</a:t>
            </a:r>
            <a:r>
              <a:rPr lang="zh-CN" altLang="en-US" dirty="0"/>
              <a:t> </a:t>
            </a:r>
            <a:r>
              <a:rPr lang="en-US" altLang="zh-CN" dirty="0"/>
              <a:t>optimization</a:t>
            </a:r>
            <a:endParaRPr lang="en-C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D27D4E0-0400-3EA1-D311-C8900AB4BAFE}"/>
              </a:ext>
            </a:extLst>
          </p:cNvPr>
          <p:cNvSpPr txBox="1"/>
          <p:nvPr/>
        </p:nvSpPr>
        <p:spPr>
          <a:xfrm>
            <a:off x="8111055" y="1348820"/>
            <a:ext cx="325291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>
                <a:effectLst/>
                <a:latin typeface="MicrosoftYaHei"/>
              </a:rPr>
              <a:t>Database </a:t>
            </a:r>
            <a:endParaRPr lang="en-US" sz="1800" dirty="0">
              <a:effectLst/>
              <a:latin typeface="MicrosoftYaHei"/>
            </a:endParaRPr>
          </a:p>
          <a:p>
            <a:r>
              <a:rPr lang="en-US" sz="1800" dirty="0">
                <a:effectLst/>
                <a:latin typeface="MicrosoftYaHei"/>
              </a:rPr>
              <a:t>http://</a:t>
            </a:r>
            <a:r>
              <a:rPr lang="en-US" sz="1800" dirty="0" err="1">
                <a:effectLst/>
                <a:latin typeface="MicrosoftYaHei"/>
              </a:rPr>
              <a:t>srdata.nist.gov</a:t>
            </a:r>
            <a:r>
              <a:rPr lang="en-US" sz="1800" dirty="0">
                <a:effectLst/>
                <a:latin typeface="MicrosoftYaHei"/>
              </a:rPr>
              <a:t>/</a:t>
            </a:r>
            <a:r>
              <a:rPr lang="en-US" sz="1800" dirty="0" err="1">
                <a:effectLst/>
                <a:latin typeface="MicrosoftYaHei"/>
              </a:rPr>
              <a:t>xps</a:t>
            </a:r>
            <a:r>
              <a:rPr lang="en-US" sz="1800" dirty="0">
                <a:effectLst/>
                <a:latin typeface="MicrosoftYaHei"/>
              </a:rPr>
              <a:t>/ </a:t>
            </a:r>
            <a:endParaRPr lang="en-US" dirty="0">
              <a:effectLst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B41F5699-7285-FA07-DAD1-D8FD042651E1}"/>
              </a:ext>
            </a:extLst>
          </p:cNvPr>
          <p:cNvSpPr/>
          <p:nvPr/>
        </p:nvSpPr>
        <p:spPr>
          <a:xfrm>
            <a:off x="2392680" y="1749935"/>
            <a:ext cx="3647440" cy="212935"/>
          </a:xfrm>
          <a:prstGeom prst="ellipse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2611457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E19335C-61C5-C286-C276-8DBCBE382C7C}"/>
              </a:ext>
            </a:extLst>
          </p:cNvPr>
          <p:cNvSpPr txBox="1">
            <a:spLocks/>
          </p:cNvSpPr>
          <p:nvPr/>
        </p:nvSpPr>
        <p:spPr bwMode="auto">
          <a:xfrm>
            <a:off x="10880725" y="6475942"/>
            <a:ext cx="1311275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rtlCol="0" anchor="ctr" anchorCtr="0" compatLnSpc="1"/>
          <a:lstStyle>
            <a:defPPr>
              <a:defRPr lang="zh-CN"/>
            </a:defPPr>
            <a:lvl1pPr marL="0" algn="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b="1" i="1" kern="1200" smtClean="0">
                <a:solidFill>
                  <a:srgbClr val="FFFFFF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Calibri" panose="020F0502020204030204" pitchFamily="34" charset="0"/>
              </a:defRPr>
            </a:lvl1pPr>
            <a:lvl2pPr marL="4572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  <a:sym typeface="Calibri" panose="020F0502020204030204" pitchFamily="34" charset="0"/>
              </a:defRPr>
            </a:lvl2pPr>
            <a:lvl3pPr marL="911225" indent="3175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  <a:sym typeface="Calibri" panose="020F0502020204030204" pitchFamily="34" charset="0"/>
              </a:defRPr>
            </a:lvl3pPr>
            <a:lvl4pPr marL="1368425" indent="3175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  <a:sym typeface="Calibri" panose="020F0502020204030204" pitchFamily="34" charset="0"/>
              </a:defRPr>
            </a:lvl4pPr>
            <a:lvl5pPr marL="1825625" indent="3175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  <a:sym typeface="Calibri" panose="020F0502020204030204" pitchFamily="34" charset="0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  <a:sym typeface="Calibri" panose="020F0502020204030204" pitchFamily="34" charset="0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  <a:sym typeface="Calibri" panose="020F0502020204030204" pitchFamily="34" charset="0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  <a:sym typeface="Calibri" panose="020F0502020204030204" pitchFamily="34" charset="0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  <a:sym typeface="Calibri" panose="020F0502020204030204" pitchFamily="34" charset="0"/>
              </a:defRPr>
            </a:lvl9pPr>
          </a:lstStyle>
          <a:p>
            <a:fld id="{30055C4C-D7A3-431C-BDD5-E6EB3A7AC7E0}" type="slidenum">
              <a:rPr lang="zh-CN" altLang="en-US" smtClean="0">
                <a:solidFill>
                  <a:schemeClr val="tx1"/>
                </a:solidFill>
              </a:rPr>
              <a:pPr/>
              <a:t>10</a:t>
            </a:fld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3" name="直线连接符 2">
            <a:extLst>
              <a:ext uri="{FF2B5EF4-FFF2-40B4-BE49-F238E27FC236}">
                <a16:creationId xmlns:a16="http://schemas.microsoft.com/office/drawing/2014/main" id="{237BD34B-AE87-E89C-1CE1-F4AFFCBE120B}"/>
              </a:ext>
            </a:extLst>
          </p:cNvPr>
          <p:cNvCxnSpPr/>
          <p:nvPr/>
        </p:nvCxnSpPr>
        <p:spPr>
          <a:xfrm>
            <a:off x="0" y="609600"/>
            <a:ext cx="12192000" cy="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4" name="文本框 2">
            <a:extLst>
              <a:ext uri="{FF2B5EF4-FFF2-40B4-BE49-F238E27FC236}">
                <a16:creationId xmlns:a16="http://schemas.microsoft.com/office/drawing/2014/main" id="{313891CD-0BCD-69EA-F1A0-2B439EBF39C5}"/>
              </a:ext>
            </a:extLst>
          </p:cNvPr>
          <p:cNvSpPr txBox="1"/>
          <p:nvPr/>
        </p:nvSpPr>
        <p:spPr>
          <a:xfrm>
            <a:off x="180919" y="209490"/>
            <a:ext cx="614449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N" altLang="zh-CN" sz="2000" dirty="0">
                <a:solidFill>
                  <a:schemeClr val="accent1">
                    <a:lumMod val="50000"/>
                  </a:schemeClr>
                </a:solidFill>
              </a:rPr>
              <a:t>Atom</a:t>
            </a:r>
            <a:r>
              <a:rPr lang="zh-CN" altLang="en-US" sz="2000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altLang="zh-CN" sz="2000" dirty="0">
                <a:solidFill>
                  <a:schemeClr val="accent1">
                    <a:lumMod val="50000"/>
                  </a:schemeClr>
                </a:solidFill>
              </a:rPr>
              <a:t>Fine</a:t>
            </a:r>
            <a:r>
              <a:rPr lang="zh-CN" altLang="en-US" sz="2000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altLang="zh-CN" sz="2000" dirty="0">
                <a:solidFill>
                  <a:schemeClr val="accent1">
                    <a:lumMod val="50000"/>
                  </a:schemeClr>
                </a:solidFill>
              </a:rPr>
              <a:t>structure </a:t>
            </a:r>
            <a:endParaRPr lang="en" altLang="zh-CN" sz="2000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51487F4-D3A3-FDE4-E914-8AE32AA494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0750" y="1581209"/>
            <a:ext cx="2419350" cy="297461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D1691EF-ECE0-D8A7-F24B-9D2F941F2E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9509" y="1263711"/>
            <a:ext cx="3276600" cy="34925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11BE68B-8B2D-D41B-3741-B583641CAA2A}"/>
                  </a:ext>
                </a:extLst>
              </p:cNvPr>
              <p:cNvSpPr txBox="1"/>
              <p:nvPr/>
            </p:nvSpPr>
            <p:spPr>
              <a:xfrm>
                <a:off x="682569" y="5125275"/>
                <a:ext cx="6848531" cy="9262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zh-CN" sz="28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𝛼</m:t>
                                </m:r>
                                <m:sSup>
                                  <m:sSupPr>
                                    <m:ctrlPr>
                                      <a:rPr lang="en-US" altLang="zh-CN" sz="2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Z</m:t>
                                    </m:r>
                                  </m:e>
                                  <m:sup>
                                    <m:r>
                                      <a:rPr lang="zh-CN" altLang="en-US" sz="2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p>
                              </m:e>
                            </m:d>
                          </m:e>
                          <m:sup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sSub>
                          <m:sSubPr>
                            <m:ctrlP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sSupPr>
                            <m:ctrlP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n</m:t>
                            </m:r>
                          </m:e>
                          <m:sup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f>
                      <m:f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["/>
                            <m:endChr m:val="]"/>
                            <m:ctrlP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d>
                              <m:dPr>
                                <m:ctrlPr>
                                  <a:rPr lang="en-US" altLang="zh-CN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800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US" altLang="zh-CN" sz="2800" b="0" i="1" smtClean="0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e>
                            </m:d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−(</m:t>
                            </m:r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  <m:d>
                              <m:dPr>
                                <m:ctrlPr>
                                  <a:rPr lang="en-US" altLang="zh-CN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800" b="0" i="1" smtClean="0"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  <m:r>
                                  <a:rPr lang="en-US" altLang="zh-CN" sz="2800" b="0" i="1" smtClean="0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e>
                            </m:d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−3/4</m:t>
                            </m:r>
                          </m:e>
                        </m:d>
                      </m:num>
                      <m:den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)(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+1)</m:t>
                        </m:r>
                      </m:den>
                    </m:f>
                  </m:oMath>
                </a14:m>
                <a:r>
                  <a:rPr lang="en-CN" sz="2800" dirty="0"/>
                  <a:t> , </a:t>
                </a:r>
                <a14:m>
                  <m:oMath xmlns:m="http://schemas.openxmlformats.org/officeDocument/2006/math"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≠0</m:t>
                    </m:r>
                  </m:oMath>
                </a14:m>
                <a:endParaRPr lang="en-CN" sz="28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11BE68B-8B2D-D41B-3741-B583641CAA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569" y="5125275"/>
                <a:ext cx="6848531" cy="926216"/>
              </a:xfrm>
              <a:prstGeom prst="rect">
                <a:avLst/>
              </a:prstGeom>
              <a:blipFill>
                <a:blip r:embed="rId4"/>
                <a:stretch>
                  <a:fillRect l="-370" b="-1351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A6A96E49-48AC-427D-5493-6C9536BCE615}"/>
                  </a:ext>
                </a:extLst>
              </p:cNvPr>
              <p:cNvSpPr/>
              <p:nvPr/>
            </p:nvSpPr>
            <p:spPr>
              <a:xfrm>
                <a:off x="8343900" y="2057378"/>
                <a:ext cx="469900" cy="46987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CN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CN" dirty="0"/>
              </a:p>
            </p:txBody>
          </p:sp>
        </mc:Choice>
        <mc:Fallback xmlns=""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A6A96E49-48AC-427D-5493-6C9536BCE61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43900" y="2057378"/>
                <a:ext cx="469900" cy="469878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Oval 19">
            <a:extLst>
              <a:ext uri="{FF2B5EF4-FFF2-40B4-BE49-F238E27FC236}">
                <a16:creationId xmlns:a16="http://schemas.microsoft.com/office/drawing/2014/main" id="{928870D3-5A28-BC63-AA52-18896C11CF99}"/>
              </a:ext>
            </a:extLst>
          </p:cNvPr>
          <p:cNvSpPr/>
          <p:nvPr/>
        </p:nvSpPr>
        <p:spPr>
          <a:xfrm>
            <a:off x="7912100" y="1263711"/>
            <a:ext cx="2832100" cy="2457389"/>
          </a:xfrm>
          <a:prstGeom prst="ellipse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9DA8268F-02A6-4D80-9ABE-7842822100A7}"/>
              </a:ext>
            </a:extLst>
          </p:cNvPr>
          <p:cNvSpPr/>
          <p:nvPr/>
        </p:nvSpPr>
        <p:spPr>
          <a:xfrm>
            <a:off x="6398837" y="4124784"/>
            <a:ext cx="3004301" cy="1704284"/>
          </a:xfrm>
          <a:prstGeom prst="ellipse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E3EAC636-BF12-B347-FA45-346F99939E62}"/>
              </a:ext>
            </a:extLst>
          </p:cNvPr>
          <p:cNvSpPr/>
          <p:nvPr/>
        </p:nvSpPr>
        <p:spPr>
          <a:xfrm>
            <a:off x="10088130" y="4018554"/>
            <a:ext cx="2103870" cy="1512800"/>
          </a:xfrm>
          <a:prstGeom prst="ellipse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43D8C23D-47D0-43C9-176B-70E59C5860D6}"/>
              </a:ext>
            </a:extLst>
          </p:cNvPr>
          <p:cNvCxnSpPr>
            <a:cxnSpLocks/>
            <a:stCxn id="20" idx="3"/>
            <a:endCxn id="27" idx="0"/>
          </p:cNvCxnSpPr>
          <p:nvPr/>
        </p:nvCxnSpPr>
        <p:spPr>
          <a:xfrm flipH="1">
            <a:off x="7900988" y="3361224"/>
            <a:ext cx="425863" cy="7635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428F775C-DED5-5CA0-BF3D-DD925E8C3B92}"/>
              </a:ext>
            </a:extLst>
          </p:cNvPr>
          <p:cNvCxnSpPr>
            <a:cxnSpLocks/>
            <a:stCxn id="20" idx="5"/>
            <a:endCxn id="34" idx="0"/>
          </p:cNvCxnSpPr>
          <p:nvPr/>
        </p:nvCxnSpPr>
        <p:spPr>
          <a:xfrm>
            <a:off x="10329449" y="3361224"/>
            <a:ext cx="810616" cy="6573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AC324CE5-88CF-072C-63A1-BAD26AD79810}"/>
              </a:ext>
            </a:extLst>
          </p:cNvPr>
          <p:cNvSpPr txBox="1"/>
          <p:nvPr/>
        </p:nvSpPr>
        <p:spPr>
          <a:xfrm>
            <a:off x="8975321" y="3371679"/>
            <a:ext cx="10132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</a:t>
            </a:r>
            <a:r>
              <a:rPr lang="zh-CN" altLang="en-US" dirty="0"/>
              <a:t> </a:t>
            </a:r>
            <a:r>
              <a:rPr lang="en-US" altLang="zh-CN" dirty="0"/>
              <a:t>orbit</a:t>
            </a:r>
            <a:r>
              <a:rPr lang="zh-CN" altLang="en-US" dirty="0"/>
              <a:t> </a:t>
            </a:r>
            <a:endParaRPr lang="en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54248ED1-F2CA-C380-80ED-22B56B1BC05D}"/>
                  </a:ext>
                </a:extLst>
              </p:cNvPr>
              <p:cNvSpPr txBox="1"/>
              <p:nvPr/>
            </p:nvSpPr>
            <p:spPr>
              <a:xfrm>
                <a:off x="7330671" y="5852965"/>
                <a:ext cx="101322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CN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 = </a:t>
                </a:r>
                <a14:m>
                  <m:oMath xmlns:m="http://schemas.openxmlformats.org/officeDocument/2006/math">
                    <m:f>
                      <m:fPr>
                        <m:type m:val="skw"/>
                        <m:ctrlPr>
                          <a:rPr lang="en-CN" sz="18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18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num>
                      <m:den>
                        <m:r>
                          <a:rPr lang="en-US" sz="18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CN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54248ED1-F2CA-C380-80ED-22B56B1BC0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30671" y="5852965"/>
                <a:ext cx="1013229" cy="369332"/>
              </a:xfrm>
              <a:prstGeom prst="rect">
                <a:avLst/>
              </a:prstGeom>
              <a:blipFill>
                <a:blip r:embed="rId6"/>
                <a:stretch>
                  <a:fillRect l="-4938" t="-106452" b="-158065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56EF090B-BD03-05A4-24CE-43152B1982E4}"/>
                  </a:ext>
                </a:extLst>
              </p:cNvPr>
              <p:cNvSpPr txBox="1"/>
              <p:nvPr/>
            </p:nvSpPr>
            <p:spPr>
              <a:xfrm>
                <a:off x="10645775" y="5734168"/>
                <a:ext cx="1013229" cy="3818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CN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 = </a:t>
                </a:r>
                <a14:m>
                  <m:oMath xmlns:m="http://schemas.openxmlformats.org/officeDocument/2006/math">
                    <m:f>
                      <m:fPr>
                        <m:type m:val="skw"/>
                        <m:ctrlPr>
                          <a:rPr lang="en-CN" sz="18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18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8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CN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56EF090B-BD03-05A4-24CE-43152B1982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45775" y="5734168"/>
                <a:ext cx="1013229" cy="381899"/>
              </a:xfrm>
              <a:prstGeom prst="rect">
                <a:avLst/>
              </a:prstGeom>
              <a:blipFill>
                <a:blip r:embed="rId7"/>
                <a:stretch>
                  <a:fillRect l="-4938" t="-106452" b="-158065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E380FCF2-6F02-D414-4700-BE30BDF54633}"/>
                  </a:ext>
                </a:extLst>
              </p:cNvPr>
              <p:cNvSpPr/>
              <p:nvPr/>
            </p:nvSpPr>
            <p:spPr>
              <a:xfrm>
                <a:off x="9860741" y="2456718"/>
                <a:ext cx="469900" cy="46987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CN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CN" dirty="0"/>
              </a:p>
            </p:txBody>
          </p:sp>
        </mc:Choice>
        <mc:Fallback xmlns=""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E380FCF2-6F02-D414-4700-BE30BDF5463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60741" y="2456718"/>
                <a:ext cx="469900" cy="469878"/>
              </a:xfrm>
              <a:prstGeom prst="ellipse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0DF9C6D6-0902-8835-6047-70C8C6BB8B7A}"/>
                  </a:ext>
                </a:extLst>
              </p:cNvPr>
              <p:cNvSpPr/>
              <p:nvPr/>
            </p:nvSpPr>
            <p:spPr>
              <a:xfrm>
                <a:off x="8492721" y="2833575"/>
                <a:ext cx="469900" cy="46987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CN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CN" dirty="0"/>
              </a:p>
            </p:txBody>
          </p:sp>
        </mc:Choice>
        <mc:Fallback xmlns=""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0DF9C6D6-0902-8835-6047-70C8C6BB8B7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92721" y="2833575"/>
                <a:ext cx="469900" cy="469878"/>
              </a:xfrm>
              <a:prstGeom prst="ellipse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3B4764D1-4A70-1096-B62A-6A9522C8DA71}"/>
                  </a:ext>
                </a:extLst>
              </p:cNvPr>
              <p:cNvSpPr/>
              <p:nvPr/>
            </p:nvSpPr>
            <p:spPr>
              <a:xfrm>
                <a:off x="9073342" y="1738864"/>
                <a:ext cx="469900" cy="46987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CN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CN" dirty="0"/>
              </a:p>
            </p:txBody>
          </p:sp>
        </mc:Choice>
        <mc:Fallback xmlns=""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3B4764D1-4A70-1096-B62A-6A9522C8DA7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73342" y="1738864"/>
                <a:ext cx="469900" cy="469878"/>
              </a:xfrm>
              <a:prstGeom prst="ellipse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34326EFC-A544-16BB-4A28-982A739B7FA7}"/>
                  </a:ext>
                </a:extLst>
              </p:cNvPr>
              <p:cNvSpPr/>
              <p:nvPr/>
            </p:nvSpPr>
            <p:spPr>
              <a:xfrm>
                <a:off x="9230938" y="2972301"/>
                <a:ext cx="469900" cy="46987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CN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CN" dirty="0"/>
              </a:p>
            </p:txBody>
          </p:sp>
        </mc:Choice>
        <mc:Fallback xmlns=""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34326EFC-A544-16BB-4A28-982A739B7FA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30938" y="2972301"/>
                <a:ext cx="469900" cy="469878"/>
              </a:xfrm>
              <a:prstGeom prst="ellipse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A8E109CF-044A-65C5-1692-2D0C6A07FD13}"/>
                  </a:ext>
                </a:extLst>
              </p:cNvPr>
              <p:cNvSpPr/>
              <p:nvPr/>
            </p:nvSpPr>
            <p:spPr>
              <a:xfrm>
                <a:off x="9041592" y="2353078"/>
                <a:ext cx="469900" cy="46987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CN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CN" dirty="0"/>
              </a:p>
            </p:txBody>
          </p:sp>
        </mc:Choice>
        <mc:Fallback xmlns=""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A8E109CF-044A-65C5-1692-2D0C6A07FD1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41592" y="2353078"/>
                <a:ext cx="469900" cy="469878"/>
              </a:xfrm>
              <a:prstGeom prst="ellipse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6DE00F8D-9267-E214-82B8-2EA5363BFC2C}"/>
                  </a:ext>
                </a:extLst>
              </p:cNvPr>
              <p:cNvSpPr/>
              <p:nvPr/>
            </p:nvSpPr>
            <p:spPr>
              <a:xfrm>
                <a:off x="10645775" y="4546444"/>
                <a:ext cx="469900" cy="46987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CN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CN" dirty="0"/>
              </a:p>
            </p:txBody>
          </p:sp>
        </mc:Choice>
        <mc:Fallback xmlns=""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6DE00F8D-9267-E214-82B8-2EA5363BFC2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45775" y="4546444"/>
                <a:ext cx="469900" cy="469878"/>
              </a:xfrm>
              <a:prstGeom prst="ellipse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B620A939-3F41-A62D-8398-2CB1699DE8AF}"/>
                  </a:ext>
                </a:extLst>
              </p:cNvPr>
              <p:cNvSpPr/>
              <p:nvPr/>
            </p:nvSpPr>
            <p:spPr>
              <a:xfrm>
                <a:off x="11301412" y="4555820"/>
                <a:ext cx="469900" cy="46987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CN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CN" dirty="0"/>
              </a:p>
            </p:txBody>
          </p:sp>
        </mc:Choice>
        <mc:Fallback xmlns=""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B620A939-3F41-A62D-8398-2CB1699DE8A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01412" y="4555820"/>
                <a:ext cx="469900" cy="469878"/>
              </a:xfrm>
              <a:prstGeom prst="ellipse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BE40C4B1-A61E-1E41-5F5C-F468E33E5E4A}"/>
                  </a:ext>
                </a:extLst>
              </p:cNvPr>
              <p:cNvSpPr/>
              <p:nvPr/>
            </p:nvSpPr>
            <p:spPr>
              <a:xfrm>
                <a:off x="8008534" y="4546444"/>
                <a:ext cx="469900" cy="46987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CN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CN" dirty="0"/>
              </a:p>
            </p:txBody>
          </p:sp>
        </mc:Choice>
        <mc:Fallback xmlns=""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BE40C4B1-A61E-1E41-5F5C-F468E33E5E4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8534" y="4546444"/>
                <a:ext cx="469900" cy="469878"/>
              </a:xfrm>
              <a:prstGeom prst="ellipse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Oval 51">
                <a:extLst>
                  <a:ext uri="{FF2B5EF4-FFF2-40B4-BE49-F238E27FC236}">
                    <a16:creationId xmlns:a16="http://schemas.microsoft.com/office/drawing/2014/main" id="{BC3D3C76-6C81-CC8B-9DCC-739D2181554E}"/>
                  </a:ext>
                </a:extLst>
              </p:cNvPr>
              <p:cNvSpPr/>
              <p:nvPr/>
            </p:nvSpPr>
            <p:spPr>
              <a:xfrm>
                <a:off x="7125681" y="4899903"/>
                <a:ext cx="469900" cy="46987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CN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CN" dirty="0"/>
              </a:p>
            </p:txBody>
          </p:sp>
        </mc:Choice>
        <mc:Fallback xmlns="">
          <p:sp>
            <p:nvSpPr>
              <p:cNvPr id="52" name="Oval 51">
                <a:extLst>
                  <a:ext uri="{FF2B5EF4-FFF2-40B4-BE49-F238E27FC236}">
                    <a16:creationId xmlns:a16="http://schemas.microsoft.com/office/drawing/2014/main" id="{BC3D3C76-6C81-CC8B-9DCC-739D2181554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5681" y="4899903"/>
                <a:ext cx="469900" cy="469878"/>
              </a:xfrm>
              <a:prstGeom prst="ellipse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Oval 52">
                <a:extLst>
                  <a:ext uri="{FF2B5EF4-FFF2-40B4-BE49-F238E27FC236}">
                    <a16:creationId xmlns:a16="http://schemas.microsoft.com/office/drawing/2014/main" id="{68D4C342-B6DA-728E-5981-E06AA1812409}"/>
                  </a:ext>
                </a:extLst>
              </p:cNvPr>
              <p:cNvSpPr/>
              <p:nvPr/>
            </p:nvSpPr>
            <p:spPr>
              <a:xfrm>
                <a:off x="8478434" y="5016322"/>
                <a:ext cx="469900" cy="46987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CN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CN" dirty="0"/>
              </a:p>
            </p:txBody>
          </p:sp>
        </mc:Choice>
        <mc:Fallback xmlns="">
          <p:sp>
            <p:nvSpPr>
              <p:cNvPr id="53" name="Oval 52">
                <a:extLst>
                  <a:ext uri="{FF2B5EF4-FFF2-40B4-BE49-F238E27FC236}">
                    <a16:creationId xmlns:a16="http://schemas.microsoft.com/office/drawing/2014/main" id="{68D4C342-B6DA-728E-5981-E06AA181240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78434" y="5016322"/>
                <a:ext cx="469900" cy="469878"/>
              </a:xfrm>
              <a:prstGeom prst="ellipse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Oval 53">
                <a:extLst>
                  <a:ext uri="{FF2B5EF4-FFF2-40B4-BE49-F238E27FC236}">
                    <a16:creationId xmlns:a16="http://schemas.microsoft.com/office/drawing/2014/main" id="{9C5F3318-0E2D-9D60-C0CF-25285B9F906B}"/>
                  </a:ext>
                </a:extLst>
              </p:cNvPr>
              <p:cNvSpPr/>
              <p:nvPr/>
            </p:nvSpPr>
            <p:spPr>
              <a:xfrm>
                <a:off x="7233401" y="4325073"/>
                <a:ext cx="469900" cy="46987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CN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CN" dirty="0"/>
              </a:p>
            </p:txBody>
          </p:sp>
        </mc:Choice>
        <mc:Fallback xmlns="">
          <p:sp>
            <p:nvSpPr>
              <p:cNvPr id="54" name="Oval 53">
                <a:extLst>
                  <a:ext uri="{FF2B5EF4-FFF2-40B4-BE49-F238E27FC236}">
                    <a16:creationId xmlns:a16="http://schemas.microsoft.com/office/drawing/2014/main" id="{9C5F3318-0E2D-9D60-C0CF-25285B9F906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3401" y="4325073"/>
                <a:ext cx="469900" cy="469878"/>
              </a:xfrm>
              <a:prstGeom prst="ellipse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5A65D5A0-4CCE-4E4E-91F2-787F46FEC74B}"/>
              </a:ext>
            </a:extLst>
          </p:cNvPr>
          <p:cNvCxnSpPr/>
          <p:nvPr/>
        </p:nvCxnSpPr>
        <p:spPr>
          <a:xfrm>
            <a:off x="9227077" y="6064672"/>
            <a:ext cx="1052907" cy="0"/>
          </a:xfrm>
          <a:prstGeom prst="straightConnector1">
            <a:avLst/>
          </a:prstGeom>
          <a:ln w="41275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393B34AF-8639-AA4B-CD33-7C49A30EBB76}"/>
              </a:ext>
            </a:extLst>
          </p:cNvPr>
          <p:cNvSpPr txBox="1"/>
          <p:nvPr/>
        </p:nvSpPr>
        <p:spPr>
          <a:xfrm>
            <a:off x="9146634" y="5656351"/>
            <a:ext cx="1213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</a:t>
            </a:r>
            <a:r>
              <a:rPr lang="en-CN" dirty="0"/>
              <a:t>nergy gap</a:t>
            </a:r>
          </a:p>
        </p:txBody>
      </p:sp>
    </p:spTree>
    <p:extLst>
      <p:ext uri="{BB962C8B-B14F-4D97-AF65-F5344CB8AC3E}">
        <p14:creationId xmlns:p14="http://schemas.microsoft.com/office/powerpoint/2010/main" val="7484438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E19335C-61C5-C286-C276-8DBCBE382C7C}"/>
              </a:ext>
            </a:extLst>
          </p:cNvPr>
          <p:cNvSpPr txBox="1">
            <a:spLocks/>
          </p:cNvSpPr>
          <p:nvPr/>
        </p:nvSpPr>
        <p:spPr bwMode="auto">
          <a:xfrm>
            <a:off x="10880725" y="6475942"/>
            <a:ext cx="1311275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rtlCol="0" anchor="ctr" anchorCtr="0" compatLnSpc="1"/>
          <a:lstStyle>
            <a:defPPr>
              <a:defRPr lang="zh-CN"/>
            </a:defPPr>
            <a:lvl1pPr marL="0" algn="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b="1" i="1" kern="1200" smtClean="0">
                <a:solidFill>
                  <a:srgbClr val="FFFFFF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Calibri" panose="020F0502020204030204" pitchFamily="34" charset="0"/>
              </a:defRPr>
            </a:lvl1pPr>
            <a:lvl2pPr marL="4572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  <a:sym typeface="Calibri" panose="020F0502020204030204" pitchFamily="34" charset="0"/>
              </a:defRPr>
            </a:lvl2pPr>
            <a:lvl3pPr marL="911225" indent="3175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  <a:sym typeface="Calibri" panose="020F0502020204030204" pitchFamily="34" charset="0"/>
              </a:defRPr>
            </a:lvl3pPr>
            <a:lvl4pPr marL="1368425" indent="3175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  <a:sym typeface="Calibri" panose="020F0502020204030204" pitchFamily="34" charset="0"/>
              </a:defRPr>
            </a:lvl4pPr>
            <a:lvl5pPr marL="1825625" indent="3175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  <a:sym typeface="Calibri" panose="020F0502020204030204" pitchFamily="34" charset="0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  <a:sym typeface="Calibri" panose="020F0502020204030204" pitchFamily="34" charset="0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  <a:sym typeface="Calibri" panose="020F0502020204030204" pitchFamily="34" charset="0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  <a:sym typeface="Calibri" panose="020F0502020204030204" pitchFamily="34" charset="0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  <a:sym typeface="Calibri" panose="020F0502020204030204" pitchFamily="34" charset="0"/>
              </a:defRPr>
            </a:lvl9pPr>
          </a:lstStyle>
          <a:p>
            <a:fld id="{30055C4C-D7A3-431C-BDD5-E6EB3A7AC7E0}" type="slidenum">
              <a:rPr lang="zh-CN" altLang="en-US" smtClean="0">
                <a:solidFill>
                  <a:schemeClr val="tx1"/>
                </a:solidFill>
              </a:rPr>
              <a:pPr/>
              <a:t>11</a:t>
            </a:fld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3" name="直线连接符 2">
            <a:extLst>
              <a:ext uri="{FF2B5EF4-FFF2-40B4-BE49-F238E27FC236}">
                <a16:creationId xmlns:a16="http://schemas.microsoft.com/office/drawing/2014/main" id="{237BD34B-AE87-E89C-1CE1-F4AFFCBE120B}"/>
              </a:ext>
            </a:extLst>
          </p:cNvPr>
          <p:cNvCxnSpPr/>
          <p:nvPr/>
        </p:nvCxnSpPr>
        <p:spPr>
          <a:xfrm>
            <a:off x="0" y="609600"/>
            <a:ext cx="12192000" cy="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26F2FD8F-E8F3-9E7F-4072-46EFC39945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6646" y="1319083"/>
            <a:ext cx="6269332" cy="434030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F36F9B0-FFF0-047B-3331-FCB6699FED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022" y="1453639"/>
            <a:ext cx="5848542" cy="4071193"/>
          </a:xfrm>
          <a:prstGeom prst="rect">
            <a:avLst/>
          </a:prstGeom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D38676B-5716-5CAF-BF73-6D87986DE472}"/>
              </a:ext>
            </a:extLst>
          </p:cNvPr>
          <p:cNvCxnSpPr/>
          <p:nvPr/>
        </p:nvCxnSpPr>
        <p:spPr>
          <a:xfrm>
            <a:off x="1880042" y="3694671"/>
            <a:ext cx="0" cy="17299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EEE4421-F4C2-86EC-99F5-87672D35E28F}"/>
              </a:ext>
            </a:extLst>
          </p:cNvPr>
          <p:cNvCxnSpPr/>
          <p:nvPr/>
        </p:nvCxnSpPr>
        <p:spPr>
          <a:xfrm>
            <a:off x="1235676" y="3694670"/>
            <a:ext cx="196472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AB2E66E-5ECF-E08F-33D8-14AA3574CE91}"/>
              </a:ext>
            </a:extLst>
          </p:cNvPr>
          <p:cNvCxnSpPr>
            <a:cxnSpLocks/>
          </p:cNvCxnSpPr>
          <p:nvPr/>
        </p:nvCxnSpPr>
        <p:spPr>
          <a:xfrm>
            <a:off x="1235676" y="3867666"/>
            <a:ext cx="180461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57D01984-3398-34A9-1E03-B7E02E43951B}"/>
              </a:ext>
            </a:extLst>
          </p:cNvPr>
          <p:cNvCxnSpPr>
            <a:cxnSpLocks/>
          </p:cNvCxnSpPr>
          <p:nvPr/>
        </p:nvCxnSpPr>
        <p:spPr>
          <a:xfrm>
            <a:off x="7786999" y="3429000"/>
            <a:ext cx="0" cy="70982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6A9EB7F2-5C8E-0069-D5DA-6892FDABB561}"/>
              </a:ext>
            </a:extLst>
          </p:cNvPr>
          <p:cNvCxnSpPr/>
          <p:nvPr/>
        </p:nvCxnSpPr>
        <p:spPr>
          <a:xfrm>
            <a:off x="7142633" y="3449055"/>
            <a:ext cx="196472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09FC1C9B-8039-885D-765E-E5BDB327F937}"/>
              </a:ext>
            </a:extLst>
          </p:cNvPr>
          <p:cNvCxnSpPr>
            <a:cxnSpLocks/>
          </p:cNvCxnSpPr>
          <p:nvPr/>
        </p:nvCxnSpPr>
        <p:spPr>
          <a:xfrm>
            <a:off x="7142633" y="4138820"/>
            <a:ext cx="180461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29143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CEF9CF7-236D-4E0C-ED3A-A8689C131813}"/>
              </a:ext>
            </a:extLst>
          </p:cNvPr>
          <p:cNvSpPr/>
          <p:nvPr/>
        </p:nvSpPr>
        <p:spPr>
          <a:xfrm flipV="1">
            <a:off x="0" y="0"/>
            <a:ext cx="12192000" cy="6858000"/>
          </a:xfrm>
          <a:prstGeom prst="rect">
            <a:avLst/>
          </a:prstGeom>
          <a:solidFill>
            <a:srgbClr val="003366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>
              <a:latin typeface="Muli"/>
            </a:endParaRPr>
          </a:p>
        </p:txBody>
      </p:sp>
      <p:pic>
        <p:nvPicPr>
          <p:cNvPr id="6" name="图片 3" descr="文本&#10;&#10;描述已自动生成">
            <a:extLst>
              <a:ext uri="{FF2B5EF4-FFF2-40B4-BE49-F238E27FC236}">
                <a16:creationId xmlns:a16="http://schemas.microsoft.com/office/drawing/2014/main" id="{1DECC18A-6C6E-F214-3F5B-82905F33CE0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3327" y="3150070"/>
            <a:ext cx="3024256" cy="79770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C5DC8AB-6C65-B0FB-FE9D-69B68C735AF1}"/>
              </a:ext>
            </a:extLst>
          </p:cNvPr>
          <p:cNvSpPr txBox="1"/>
          <p:nvPr/>
        </p:nvSpPr>
        <p:spPr>
          <a:xfrm>
            <a:off x="5590573" y="2670838"/>
            <a:ext cx="5727539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solidFill>
                  <a:schemeClr val="bg1"/>
                </a:solidFill>
                <a:latin typeface="Heiti SC Medium" pitchFamily="2" charset="-128"/>
                <a:ea typeface="Heiti SC Medium" pitchFamily="2" charset="-128"/>
                <a:cs typeface="Arial" panose="020B0604020202020204" pitchFamily="34" charset="0"/>
              </a:rPr>
              <a:t>Q </a:t>
            </a:r>
            <a:r>
              <a:rPr lang="en-US" altLang="zh-CN" sz="4800" dirty="0">
                <a:solidFill>
                  <a:schemeClr val="bg1"/>
                </a:solidFill>
                <a:latin typeface="Heiti SC Medium" pitchFamily="2" charset="-128"/>
                <a:ea typeface="Heiti SC Medium" pitchFamily="2" charset="-128"/>
                <a:cs typeface="Arial" panose="020B0604020202020204" pitchFamily="34" charset="0"/>
              </a:rPr>
              <a:t>&amp; A</a:t>
            </a:r>
            <a:endParaRPr lang="en-US" sz="4800" dirty="0">
              <a:solidFill>
                <a:schemeClr val="bg1"/>
              </a:solidFill>
              <a:latin typeface="Heiti SC Medium" pitchFamily="2" charset="-128"/>
              <a:ea typeface="Heiti SC Medium" pitchFamily="2" charset="-128"/>
              <a:cs typeface="Arial" panose="020B0604020202020204" pitchFamily="34" charset="0"/>
            </a:endParaRPr>
          </a:p>
          <a:p>
            <a:pPr algn="ctr"/>
            <a:r>
              <a:rPr lang="en-US" sz="4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Thanks for your time!</a:t>
            </a:r>
          </a:p>
        </p:txBody>
      </p:sp>
    </p:spTree>
    <p:extLst>
      <p:ext uri="{BB962C8B-B14F-4D97-AF65-F5344CB8AC3E}">
        <p14:creationId xmlns:p14="http://schemas.microsoft.com/office/powerpoint/2010/main" val="40425694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8196</TotalTime>
  <Words>536</Words>
  <Application>Microsoft Macintosh PowerPoint</Application>
  <PresentationFormat>Widescreen</PresentationFormat>
  <Paragraphs>137</Paragraphs>
  <Slides>12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4" baseType="lpstr">
      <vt:lpstr>Heiti SC Medium</vt:lpstr>
      <vt:lpstr>Microsoft YaHei</vt:lpstr>
      <vt:lpstr>MicrosoftYaHei</vt:lpstr>
      <vt:lpstr>Muli</vt:lpstr>
      <vt:lpstr>Muli Light</vt:lpstr>
      <vt:lpstr>Söhne Mono</vt:lpstr>
      <vt:lpstr>Arial</vt:lpstr>
      <vt:lpstr>Calibri</vt:lpstr>
      <vt:lpstr>Calibri Light</vt:lpstr>
      <vt:lpstr>Cambria Math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HUANG Jiaqiang</dc:creator>
  <cp:lastModifiedBy>Bin Cao</cp:lastModifiedBy>
  <cp:revision>332</cp:revision>
  <dcterms:created xsi:type="dcterms:W3CDTF">2022-09-02T06:17:03Z</dcterms:created>
  <dcterms:modified xsi:type="dcterms:W3CDTF">2026-06-10T04:26:31Z</dcterms:modified>
</cp:coreProperties>
</file>